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3"/>
    <p:sldId id="257" r:id="rId4"/>
    <p:sldId id="271" r:id="rId5"/>
    <p:sldId id="258" r:id="rId6"/>
    <p:sldId id="259" r:id="rId7"/>
    <p:sldId id="267" r:id="rId8"/>
    <p:sldId id="269" r:id="rId9"/>
    <p:sldId id="270" r:id="rId10"/>
    <p:sldId id="277" r:id="rId12"/>
    <p:sldId id="278" r:id="rId13"/>
    <p:sldId id="279" r:id="rId14"/>
    <p:sldId id="273" r:id="rId15"/>
    <p:sldId id="274" r:id="rId16"/>
    <p:sldId id="275" r:id="rId17"/>
    <p:sldId id="264" r:id="rId18"/>
  </p:sldIdLst>
  <p:sldSz cx="18288000" cy="10287000"/>
  <p:notesSz cx="6858000" cy="9144000"/>
  <p:embeddedFontLst>
    <p:embeddedFont>
      <p:font typeface="Raleway Bold" panose="020B0803030101060003"/>
      <p:bold r:id="rId22"/>
    </p:embeddedFont>
    <p:embeddedFont>
      <p:font typeface="Canva Sans Bold" panose="020B0803030501040103"/>
      <p:bold r:id="rId23"/>
    </p:embeddedFont>
    <p:embeddedFont>
      <p:font typeface="Canva Sans" panose="020B0503030501040103"/>
      <p:regular r:id="rId24"/>
    </p:embeddedFont>
    <p:embeddedFont>
      <p:font typeface="Raleway" panose="020B0503030101060003"/>
      <p:regular r:id="rId25"/>
    </p:embeddedFont>
    <p:embeddedFont>
      <p:font typeface="Prata" panose="00000500000000000000"/>
      <p:regular r:id="rId26"/>
    </p:embeddedFont>
    <p:embeddedFont>
      <p:font typeface="Calibri" panose="020F0502020204030204"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4" userDrawn="1">
          <p15:clr>
            <a:srgbClr val="A4A3A4"/>
          </p15:clr>
        </p15:guide>
        <p15:guide id="2" pos="29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04"/>
        <p:guide pos="293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font" Target="fonts/font9.fntdata"/><Relationship Id="rId3" Type="http://schemas.openxmlformats.org/officeDocument/2006/relationships/slide" Target="slides/slide1.xml"/><Relationship Id="rId29" Type="http://schemas.openxmlformats.org/officeDocument/2006/relationships/font" Target="fonts/font8.fntdata"/><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6750"/>
            </a:lvl1pPr>
          </a:lstStyle>
          <a:p>
            <a:r>
              <a:rPr lang="en-US" smtClean="0"/>
              <a:t>Click to edit Master title style</a:t>
            </a:r>
            <a:endParaRPr lang="en-US"/>
          </a:p>
        </p:txBody>
      </p:sp>
      <p:sp>
        <p:nvSpPr>
          <p:cNvPr id="3" name="Subtitle 2"/>
          <p:cNvSpPr>
            <a:spLocks noGrp="1"/>
          </p:cNvSpPr>
          <p:nvPr>
            <p:ph type="subTitle" idx="1"/>
          </p:nvPr>
        </p:nvSpPr>
        <p:spPr>
          <a:xfrm>
            <a:off x="2286000" y="5403057"/>
            <a:ext cx="13716000" cy="2483643"/>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spd="slow"/>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spd="slow"/>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6" y="2564607"/>
            <a:ext cx="15773400" cy="4279106"/>
          </a:xfrm>
        </p:spPr>
        <p:txBody>
          <a:bodyPr anchor="b"/>
          <a:lstStyle>
            <a:lvl1pPr>
              <a:defRPr sz="6750"/>
            </a:lvl1pPr>
          </a:lstStyle>
          <a:p>
            <a:r>
              <a:rPr lang="en-US" smtClean="0"/>
              <a:t>Click to edit Master title style</a:t>
            </a:r>
            <a:endParaRPr lang="en-US"/>
          </a:p>
        </p:txBody>
      </p:sp>
      <p:sp>
        <p:nvSpPr>
          <p:cNvPr id="3" name="Text Placeholder 2"/>
          <p:cNvSpPr>
            <a:spLocks noGrp="1"/>
          </p:cNvSpPr>
          <p:nvPr>
            <p:ph type="body" idx="1"/>
          </p:nvPr>
        </p:nvSpPr>
        <p:spPr>
          <a:xfrm>
            <a:off x="1247776" y="6884195"/>
            <a:ext cx="15773400" cy="2250281"/>
          </a:xfrm>
        </p:spPr>
        <p:txBody>
          <a:bodyPr/>
          <a:lstStyle>
            <a:lvl1pPr marL="0" indent="0">
              <a:buNone/>
              <a:defRPr sz="2700">
                <a:solidFill>
                  <a:schemeClr val="tx1">
                    <a:tint val="75000"/>
                  </a:schemeClr>
                </a:solidFill>
              </a:defRPr>
            </a:lvl1pPr>
            <a:lvl2pPr marL="514350" indent="0">
              <a:buNone/>
              <a:defRPr sz="2250">
                <a:solidFill>
                  <a:schemeClr val="tx1">
                    <a:tint val="75000"/>
                  </a:schemeClr>
                </a:solidFill>
              </a:defRPr>
            </a:lvl2pPr>
            <a:lvl3pPr marL="1028700" indent="0">
              <a:buNone/>
              <a:defRPr sz="2025">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spd="slow"/>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2400300"/>
            <a:ext cx="8065008" cy="678894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9308592" y="2400300"/>
            <a:ext cx="8065008" cy="678894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spd="slow"/>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1259682" y="2521745"/>
            <a:ext cx="7736680" cy="1235868"/>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1259682" y="3757613"/>
            <a:ext cx="7736680" cy="552688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9258300" y="3757613"/>
            <a:ext cx="7774782" cy="552688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spd="slow"/>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spd="slow"/>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spd="slow"/>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2" y="685800"/>
            <a:ext cx="5898356" cy="2400300"/>
          </a:xfrm>
        </p:spPr>
        <p:txBody>
          <a:bodyPr anchor="b"/>
          <a:lstStyle>
            <a:lvl1pPr>
              <a:defRPr sz="3600"/>
            </a:lvl1pPr>
          </a:lstStyle>
          <a:p>
            <a:r>
              <a:rPr lang="en-US" smtClean="0"/>
              <a:t>Click to edit Master title style</a:t>
            </a:r>
            <a:endParaRPr lang="en-US"/>
          </a:p>
        </p:txBody>
      </p:sp>
      <p:sp>
        <p:nvSpPr>
          <p:cNvPr id="3" name="Content Placeholder 2"/>
          <p:cNvSpPr>
            <a:spLocks noGrp="1"/>
          </p:cNvSpPr>
          <p:nvPr>
            <p:ph idx="1"/>
          </p:nvPr>
        </p:nvSpPr>
        <p:spPr>
          <a:xfrm>
            <a:off x="7774782" y="1481138"/>
            <a:ext cx="9258300" cy="7310438"/>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1259682" y="3086100"/>
            <a:ext cx="5898356" cy="5717382"/>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spd="slow"/>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2" y="685800"/>
            <a:ext cx="5898356" cy="2400300"/>
          </a:xfrm>
        </p:spPr>
        <p:txBody>
          <a:bodyPr anchor="b"/>
          <a:lstStyle>
            <a:lvl1pPr>
              <a:defRPr sz="3600"/>
            </a:lvl1pPr>
          </a:lstStyle>
          <a:p>
            <a:r>
              <a:rPr lang="en-US" smtClean="0"/>
              <a:t>Click to edit Master title style</a:t>
            </a:r>
            <a:endParaRPr lang="en-US"/>
          </a:p>
        </p:txBody>
      </p:sp>
      <p:sp>
        <p:nvSpPr>
          <p:cNvPr id="3" name="Picture Placeholder 2"/>
          <p:cNvSpPr>
            <a:spLocks noGrp="1"/>
          </p:cNvSpPr>
          <p:nvPr>
            <p:ph type="pic" idx="1"/>
          </p:nvPr>
        </p:nvSpPr>
        <p:spPr>
          <a:xfrm>
            <a:off x="7774782" y="1481138"/>
            <a:ext cx="9258300" cy="7310438"/>
          </a:xfrm>
        </p:spPr>
        <p:txBody>
          <a:bodyPr/>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endParaRPr lang="en-US"/>
          </a:p>
        </p:txBody>
      </p:sp>
      <p:sp>
        <p:nvSpPr>
          <p:cNvPr id="4" name="Text Placeholder 3"/>
          <p:cNvSpPr>
            <a:spLocks noGrp="1"/>
          </p:cNvSpPr>
          <p:nvPr>
            <p:ph type="body" sz="half" idx="2"/>
          </p:nvPr>
        </p:nvSpPr>
        <p:spPr>
          <a:xfrm>
            <a:off x="1259682" y="3086100"/>
            <a:ext cx="5898356" cy="5717382"/>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spd="slow"/>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spd="slow"/>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8800" y="411957"/>
            <a:ext cx="4114800" cy="87772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411957"/>
            <a:ext cx="12105860" cy="877728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spd="slow"/>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914400" y="411957"/>
            <a:ext cx="16459200" cy="17145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914400" y="2400300"/>
            <a:ext cx="16459200" cy="6788945"/>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914400" y="9367838"/>
            <a:ext cx="4267200" cy="714375"/>
          </a:xfrm>
          <a:prstGeom prst="rect">
            <a:avLst/>
          </a:prstGeom>
          <a:noFill/>
          <a:ln w="9525">
            <a:noFill/>
          </a:ln>
        </p:spPr>
        <p:txBody>
          <a:bodyPr/>
          <a:lstStyle>
            <a:lvl1pPr>
              <a:defRPr sz="2100"/>
            </a:lvl1pPr>
          </a:lstStyle>
          <a:p>
            <a:fld id="{1D8BD707-D9CF-40AE-B4C6-C98DA3205C09}" type="datetimeFigureOut">
              <a:rPr lang="en-US" smtClean="0"/>
            </a:fld>
            <a:endParaRPr lang="en-US"/>
          </a:p>
        </p:txBody>
      </p:sp>
      <p:sp>
        <p:nvSpPr>
          <p:cNvPr id="1029" name="Footer Placeholder 1028"/>
          <p:cNvSpPr/>
          <p:nvPr>
            <p:ph type="ftr" sz="quarter" idx="3"/>
          </p:nvPr>
        </p:nvSpPr>
        <p:spPr>
          <a:xfrm>
            <a:off x="6248400" y="9367838"/>
            <a:ext cx="5791200" cy="714375"/>
          </a:xfrm>
          <a:prstGeom prst="rect">
            <a:avLst/>
          </a:prstGeom>
          <a:noFill/>
          <a:ln w="9525">
            <a:noFill/>
          </a:ln>
        </p:spPr>
        <p:txBody>
          <a:bodyPr/>
          <a:lstStyle>
            <a:lvl1pPr algn="ctr">
              <a:defRPr sz="2100"/>
            </a:lvl1pPr>
          </a:lstStyle>
          <a:p>
            <a:endParaRPr lang="en-US"/>
          </a:p>
        </p:txBody>
      </p:sp>
      <p:sp>
        <p:nvSpPr>
          <p:cNvPr id="1030" name="Slide Number Placeholder 1029"/>
          <p:cNvSpPr/>
          <p:nvPr>
            <p:ph type="sldNum" sz="quarter" idx="4"/>
          </p:nvPr>
        </p:nvSpPr>
        <p:spPr>
          <a:xfrm>
            <a:off x="13106400" y="9367838"/>
            <a:ext cx="4267200" cy="714375"/>
          </a:xfrm>
          <a:prstGeom prst="rect">
            <a:avLst/>
          </a:prstGeom>
          <a:noFill/>
          <a:ln w="9525">
            <a:noFill/>
          </a:ln>
        </p:spPr>
        <p:txBody>
          <a:bodyPr/>
          <a:lstStyle>
            <a:lvl1pPr algn="r">
              <a:defRPr sz="2100"/>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sldNum="0" hdr="0" ftr="0" dt="0"/>
  <p:txStyles>
    <p:titleStyle>
      <a:lvl1pPr marL="0" lvl="0" indent="0" algn="ctr" defTabSz="1371600" eaLnBrk="1" fontAlgn="base" latinLnBrk="0" hangingPunct="1">
        <a:lnSpc>
          <a:spcPct val="100000"/>
        </a:lnSpc>
        <a:spcBef>
          <a:spcPct val="0"/>
        </a:spcBef>
        <a:spcAft>
          <a:spcPct val="0"/>
        </a:spcAft>
        <a:buNone/>
        <a:defRPr sz="6600" b="0" i="0" u="none" kern="1200" baseline="0">
          <a:solidFill>
            <a:schemeClr val="tx2"/>
          </a:solidFill>
          <a:latin typeface="+mj-lt"/>
          <a:ea typeface="+mj-ea"/>
          <a:cs typeface="+mj-cs"/>
        </a:defRPr>
      </a:lvl1pPr>
    </p:titleStyle>
    <p:bodyStyle>
      <a:lvl1pPr marL="514350" lvl="0" indent="-514350" algn="l" defTabSz="1371600" eaLnBrk="1" fontAlgn="base" latinLnBrk="0" hangingPunct="1">
        <a:lnSpc>
          <a:spcPct val="100000"/>
        </a:lnSpc>
        <a:spcBef>
          <a:spcPct val="30000"/>
        </a:spcBef>
        <a:spcAft>
          <a:spcPct val="0"/>
        </a:spcAft>
        <a:buChar char="•"/>
        <a:defRPr sz="4800" b="0" i="0" u="none" kern="1200" baseline="0">
          <a:solidFill>
            <a:schemeClr val="tx1"/>
          </a:solidFill>
          <a:latin typeface="+mn-lt"/>
          <a:ea typeface="+mn-ea"/>
          <a:cs typeface="+mn-cs"/>
        </a:defRPr>
      </a:lvl1pPr>
      <a:lvl2pPr marL="1114425" lvl="1" indent="-428625" algn="l" defTabSz="1371600" eaLnBrk="1" fontAlgn="base" latinLnBrk="0" hangingPunct="1">
        <a:lnSpc>
          <a:spcPct val="100000"/>
        </a:lnSpc>
        <a:spcBef>
          <a:spcPct val="30000"/>
        </a:spcBef>
        <a:spcAft>
          <a:spcPct val="0"/>
        </a:spcAft>
        <a:buChar char="–"/>
        <a:defRPr sz="4200" b="0" i="0" u="none" kern="1200" baseline="0">
          <a:solidFill>
            <a:schemeClr val="tx1"/>
          </a:solidFill>
          <a:latin typeface="+mn-lt"/>
          <a:ea typeface="+mn-ea"/>
          <a:cs typeface="+mn-cs"/>
        </a:defRPr>
      </a:lvl2pPr>
      <a:lvl3pPr marL="1714500" lvl="2" indent="-342900" algn="l" defTabSz="1371600" eaLnBrk="1" fontAlgn="base" latinLnBrk="0" hangingPunct="1">
        <a:lnSpc>
          <a:spcPct val="100000"/>
        </a:lnSpc>
        <a:spcBef>
          <a:spcPct val="30000"/>
        </a:spcBef>
        <a:spcAft>
          <a:spcPct val="0"/>
        </a:spcAft>
        <a:buChar char="•"/>
        <a:defRPr sz="3600" b="0" i="0" u="none" kern="1200" baseline="0">
          <a:solidFill>
            <a:schemeClr val="tx1"/>
          </a:solidFill>
          <a:latin typeface="+mn-lt"/>
          <a:ea typeface="+mn-ea"/>
          <a:cs typeface="+mn-cs"/>
        </a:defRPr>
      </a:lvl3pPr>
      <a:lvl4pPr marL="2400300" lvl="3" indent="-342900" algn="l" defTabSz="1371600" eaLnBrk="1" fontAlgn="base" latinLnBrk="0" hangingPunct="1">
        <a:lnSpc>
          <a:spcPct val="100000"/>
        </a:lnSpc>
        <a:spcBef>
          <a:spcPct val="30000"/>
        </a:spcBef>
        <a:spcAft>
          <a:spcPct val="0"/>
        </a:spcAft>
        <a:buChar char="–"/>
        <a:defRPr sz="3000" b="0" i="0" u="none" kern="1200" baseline="0">
          <a:solidFill>
            <a:schemeClr val="tx1"/>
          </a:solidFill>
          <a:latin typeface="+mn-lt"/>
          <a:ea typeface="+mn-ea"/>
          <a:cs typeface="+mn-cs"/>
        </a:defRPr>
      </a:lvl4pPr>
      <a:lvl5pPr marL="3086100" lvl="4" indent="-342900" algn="l" defTabSz="1371600" eaLnBrk="1" fontAlgn="base" latinLnBrk="0" hangingPunct="1">
        <a:lnSpc>
          <a:spcPct val="100000"/>
        </a:lnSpc>
        <a:spcBef>
          <a:spcPct val="30000"/>
        </a:spcBef>
        <a:spcAft>
          <a:spcPct val="0"/>
        </a:spcAft>
        <a:buChar char="»"/>
        <a:defRPr sz="3000" b="0" i="0" u="none" kern="1200" baseline="0">
          <a:solidFill>
            <a:schemeClr val="tx1"/>
          </a:solidFill>
          <a:latin typeface="+mn-lt"/>
          <a:ea typeface="+mn-ea"/>
          <a:cs typeface="+mn-cs"/>
        </a:defRPr>
      </a:lvl5pPr>
      <a:lvl6pPr marL="3771900" lvl="5" indent="-342900" algn="l" defTabSz="1371600" eaLnBrk="1" fontAlgn="base" latinLnBrk="0" hangingPunct="1">
        <a:lnSpc>
          <a:spcPct val="100000"/>
        </a:lnSpc>
        <a:spcBef>
          <a:spcPct val="30000"/>
        </a:spcBef>
        <a:spcAft>
          <a:spcPct val="0"/>
        </a:spcAft>
        <a:buChar char="»"/>
        <a:defRPr sz="3000" b="0" i="0" u="none" kern="1200" baseline="0">
          <a:solidFill>
            <a:schemeClr val="tx1"/>
          </a:solidFill>
          <a:latin typeface="+mn-lt"/>
          <a:ea typeface="+mn-ea"/>
          <a:cs typeface="+mn-cs"/>
        </a:defRPr>
      </a:lvl6pPr>
      <a:lvl7pPr marL="4457700" lvl="6" indent="-342900" algn="l" defTabSz="1371600" eaLnBrk="1" fontAlgn="base" latinLnBrk="0" hangingPunct="1">
        <a:lnSpc>
          <a:spcPct val="100000"/>
        </a:lnSpc>
        <a:spcBef>
          <a:spcPct val="30000"/>
        </a:spcBef>
        <a:spcAft>
          <a:spcPct val="0"/>
        </a:spcAft>
        <a:buChar char="»"/>
        <a:defRPr sz="3000" b="0" i="0" u="none" kern="1200" baseline="0">
          <a:solidFill>
            <a:schemeClr val="tx1"/>
          </a:solidFill>
          <a:latin typeface="+mn-lt"/>
          <a:ea typeface="+mn-ea"/>
          <a:cs typeface="+mn-cs"/>
        </a:defRPr>
      </a:lvl7pPr>
      <a:lvl8pPr marL="5143500" lvl="7" indent="-342900" algn="l" defTabSz="1371600" eaLnBrk="1" fontAlgn="base" latinLnBrk="0" hangingPunct="1">
        <a:lnSpc>
          <a:spcPct val="100000"/>
        </a:lnSpc>
        <a:spcBef>
          <a:spcPct val="30000"/>
        </a:spcBef>
        <a:spcAft>
          <a:spcPct val="0"/>
        </a:spcAft>
        <a:buChar char="»"/>
        <a:defRPr sz="3000" b="0" i="0" u="none" kern="1200" baseline="0">
          <a:solidFill>
            <a:schemeClr val="tx1"/>
          </a:solidFill>
          <a:latin typeface="+mn-lt"/>
          <a:ea typeface="+mn-ea"/>
          <a:cs typeface="+mn-cs"/>
        </a:defRPr>
      </a:lvl8pPr>
      <a:lvl9pPr marL="5829300" lvl="8" indent="-342900" algn="l" defTabSz="1371600" eaLnBrk="1" fontAlgn="base" latinLnBrk="0" hangingPunct="1">
        <a:lnSpc>
          <a:spcPct val="100000"/>
        </a:lnSpc>
        <a:spcBef>
          <a:spcPct val="30000"/>
        </a:spcBef>
        <a:spcAft>
          <a:spcPct val="0"/>
        </a:spcAft>
        <a:buChar char="»"/>
        <a:defRPr sz="3000" b="0" i="0" u="none" kern="1200" baseline="0">
          <a:solidFill>
            <a:schemeClr val="tx1"/>
          </a:solidFill>
          <a:latin typeface="+mn-lt"/>
          <a:ea typeface="+mn-ea"/>
          <a:cs typeface="+mn-cs"/>
        </a:defRPr>
      </a:lvl9pPr>
    </p:bodyStyle>
    <p:otherStyle>
      <a:lvl1pPr marL="0" lvl="0" indent="0" algn="l" defTabSz="1371600" eaLnBrk="1" fontAlgn="base" latinLnBrk="0" hangingPunct="1">
        <a:lnSpc>
          <a:spcPct val="100000"/>
        </a:lnSpc>
        <a:spcBef>
          <a:spcPct val="0"/>
        </a:spcBef>
        <a:spcAft>
          <a:spcPct val="0"/>
        </a:spcAft>
        <a:buFont typeface="Arial" panose="020B0604020202020204" pitchFamily="34" charset="0"/>
        <a:buNone/>
        <a:defRPr sz="2700" b="0" i="0" u="none" kern="1200" baseline="0">
          <a:solidFill>
            <a:schemeClr val="tx1"/>
          </a:solidFill>
          <a:latin typeface="+mn-lt"/>
          <a:ea typeface="+mn-ea"/>
          <a:cs typeface="+mn-cs"/>
        </a:defRPr>
      </a:lvl1pPr>
      <a:lvl2pPr marL="685800" lvl="1" indent="0" algn="l" defTabSz="13716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1371600" lvl="2" indent="0" algn="l" defTabSz="13716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2057400" lvl="3" indent="0" algn="l" defTabSz="13716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2743200" lvl="4" indent="0" algn="l" defTabSz="13716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3429000" lvl="5" indent="0" algn="l" defTabSz="13716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4114800" lvl="6" indent="0" algn="l" defTabSz="13716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4800600" lvl="7" indent="0" algn="l" defTabSz="13716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5486400" lvl="8" indent="0" algn="l" defTabSz="13716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slideLayout" Target="../slideLayouts/slideLayout7.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2350948" y="803329"/>
            <a:ext cx="13595629" cy="1019176"/>
          </a:xfrm>
          <a:prstGeom prst="rect">
            <a:avLst/>
          </a:prstGeom>
        </p:spPr>
        <p:txBody>
          <a:bodyPr lIns="0" tIns="0" rIns="0" bIns="0" rtlCol="0" anchor="t">
            <a:spAutoFit/>
          </a:bodyPr>
          <a:lstStyle/>
          <a:p>
            <a:pPr algn="l">
              <a:lnSpc>
                <a:spcPts val="8400"/>
              </a:lnSpc>
            </a:pPr>
            <a:r>
              <a:rPr lang="en-US" sz="6000" b="1">
                <a:solidFill>
                  <a:srgbClr val="344E41"/>
                </a:solidFill>
                <a:latin typeface="Raleway Bold" panose="020B0803030101060003"/>
                <a:ea typeface="Raleway Bold" panose="020B0803030101060003"/>
                <a:cs typeface="Raleway Bold" panose="020B0803030101060003"/>
                <a:sym typeface="Raleway Bold" panose="020B0803030101060003"/>
              </a:rPr>
              <a:t>TEAM ROLES AND RESPONSIBILITIES</a:t>
            </a:r>
            <a:endParaRPr lang="en-US" sz="60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grpSp>
        <p:nvGrpSpPr>
          <p:cNvPr id="3" name="Group 3"/>
          <p:cNvGrpSpPr/>
          <p:nvPr/>
        </p:nvGrpSpPr>
        <p:grpSpPr>
          <a:xfrm rot="0">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6" name="AutoShape 6"/>
          <p:cNvSpPr/>
          <p:nvPr/>
        </p:nvSpPr>
        <p:spPr>
          <a:xfrm>
            <a:off x="1362075" y="3878842"/>
            <a:ext cx="15337937" cy="0"/>
          </a:xfrm>
          <a:prstGeom prst="line">
            <a:avLst/>
          </a:prstGeom>
          <a:ln w="9525" cap="flat">
            <a:solidFill>
              <a:srgbClr val="804F3B"/>
            </a:solidFill>
            <a:prstDash val="solid"/>
            <a:headEnd type="none" w="sm" len="sm"/>
            <a:tailEnd type="none" w="sm" len="sm"/>
          </a:ln>
        </p:spPr>
      </p:sp>
      <p:sp>
        <p:nvSpPr>
          <p:cNvPr id="7" name="AutoShape 7"/>
          <p:cNvSpPr/>
          <p:nvPr/>
        </p:nvSpPr>
        <p:spPr>
          <a:xfrm>
            <a:off x="10941096" y="2427342"/>
            <a:ext cx="0" cy="6488629"/>
          </a:xfrm>
          <a:prstGeom prst="line">
            <a:avLst/>
          </a:prstGeom>
          <a:ln w="9525" cap="flat">
            <a:solidFill>
              <a:srgbClr val="804F3B"/>
            </a:solidFill>
            <a:prstDash val="solid"/>
            <a:headEnd type="none" w="sm" len="sm"/>
            <a:tailEnd type="none" w="sm" len="sm"/>
          </a:ln>
        </p:spPr>
      </p:sp>
      <p:sp>
        <p:nvSpPr>
          <p:cNvPr id="8" name="TextBox 8"/>
          <p:cNvSpPr txBox="1"/>
          <p:nvPr/>
        </p:nvSpPr>
        <p:spPr>
          <a:xfrm>
            <a:off x="1219080" y="5475859"/>
            <a:ext cx="4343866" cy="490855"/>
          </a:xfrm>
          <a:prstGeom prst="rect">
            <a:avLst/>
          </a:prstGeom>
        </p:spPr>
        <p:txBody>
          <a:bodyPr lIns="0" tIns="0" rIns="0" bIns="0" rtlCol="0" anchor="t">
            <a:spAutoFit/>
          </a:bodyPr>
          <a:lstStyle/>
          <a:p>
            <a:pPr algn="ctr">
              <a:lnSpc>
                <a:spcPts val="3920"/>
              </a:lnSpc>
            </a:pPr>
            <a:r>
              <a:rPr lang="en-US" sz="2800" b="1">
                <a:solidFill>
                  <a:srgbClr val="344E41"/>
                </a:solidFill>
                <a:latin typeface="Raleway Bold" panose="020B0803030101060003"/>
                <a:ea typeface="Raleway Bold" panose="020B0803030101060003"/>
                <a:cs typeface="Raleway Bold" panose="020B0803030101060003"/>
                <a:sym typeface="Raleway Bold" panose="020B0803030101060003"/>
              </a:rPr>
              <a:t>ALMIRANTE, RHIZZA MAY</a:t>
            </a:r>
            <a:endParaRPr lang="en-US" sz="28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9" name="TextBox 9"/>
          <p:cNvSpPr txBox="1"/>
          <p:nvPr/>
        </p:nvSpPr>
        <p:spPr>
          <a:xfrm>
            <a:off x="1612780" y="2906902"/>
            <a:ext cx="3863340" cy="986155"/>
          </a:xfrm>
          <a:prstGeom prst="rect">
            <a:avLst/>
          </a:prstGeom>
        </p:spPr>
        <p:txBody>
          <a:bodyPr lIns="0" tIns="0" rIns="0" bIns="0" rtlCol="0" anchor="t">
            <a:spAutoFit/>
          </a:bodyPr>
          <a:lstStyle/>
          <a:p>
            <a:pPr algn="l">
              <a:lnSpc>
                <a:spcPts val="3920"/>
              </a:lnSpc>
              <a:spcBef>
                <a:spcPct val="0"/>
              </a:spcBef>
            </a:pPr>
            <a:r>
              <a:rPr lang="en-US" sz="2800" b="1">
                <a:solidFill>
                  <a:srgbClr val="344E41"/>
                </a:solidFill>
                <a:latin typeface="Raleway Bold" panose="020B0803030101060003"/>
                <a:ea typeface="Raleway Bold" panose="020B0803030101060003"/>
                <a:cs typeface="Raleway Bold" panose="020B0803030101060003"/>
                <a:sym typeface="Raleway Bold" panose="020B0803030101060003"/>
              </a:rPr>
              <a:t>CONSABO, ALIZA MAE </a:t>
            </a:r>
            <a:endParaRPr lang="en-US" sz="2800" b="1">
              <a:solidFill>
                <a:srgbClr val="344E41"/>
              </a:solidFill>
              <a:latin typeface="Raleway Bold" panose="020B0803030101060003"/>
              <a:ea typeface="Raleway Bold" panose="020B0803030101060003"/>
              <a:cs typeface="Raleway Bold" panose="020B0803030101060003"/>
              <a:sym typeface="Raleway Bold" panose="020B0803030101060003"/>
            </a:endParaRPr>
          </a:p>
          <a:p>
            <a:pPr algn="l">
              <a:lnSpc>
                <a:spcPts val="3920"/>
              </a:lnSpc>
              <a:spcBef>
                <a:spcPct val="0"/>
              </a:spcBef>
            </a:pPr>
          </a:p>
        </p:txBody>
      </p:sp>
      <p:sp>
        <p:nvSpPr>
          <p:cNvPr id="10" name="TextBox 10"/>
          <p:cNvSpPr txBox="1"/>
          <p:nvPr/>
        </p:nvSpPr>
        <p:spPr>
          <a:xfrm>
            <a:off x="1612780" y="4369308"/>
            <a:ext cx="3667591" cy="490855"/>
          </a:xfrm>
          <a:prstGeom prst="rect">
            <a:avLst/>
          </a:prstGeom>
        </p:spPr>
        <p:txBody>
          <a:bodyPr lIns="0" tIns="0" rIns="0" bIns="0" rtlCol="0" anchor="t">
            <a:spAutoFit/>
          </a:bodyPr>
          <a:lstStyle/>
          <a:p>
            <a:pPr algn="l">
              <a:lnSpc>
                <a:spcPts val="3920"/>
              </a:lnSpc>
            </a:pPr>
            <a:r>
              <a:rPr lang="en-US" sz="2800" b="1">
                <a:solidFill>
                  <a:srgbClr val="344E41"/>
                </a:solidFill>
                <a:latin typeface="Raleway Bold" panose="020B0803030101060003"/>
                <a:ea typeface="Raleway Bold" panose="020B0803030101060003"/>
                <a:cs typeface="Raleway Bold" panose="020B0803030101060003"/>
                <a:sym typeface="Raleway Bold" panose="020B0803030101060003"/>
              </a:rPr>
              <a:t>CASTRO, WINDLYN</a:t>
            </a:r>
            <a:endParaRPr lang="en-US" sz="28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11" name="TextBox 11"/>
          <p:cNvSpPr txBox="1"/>
          <p:nvPr/>
        </p:nvSpPr>
        <p:spPr>
          <a:xfrm>
            <a:off x="1612780" y="6828663"/>
            <a:ext cx="4223101" cy="490855"/>
          </a:xfrm>
          <a:prstGeom prst="rect">
            <a:avLst/>
          </a:prstGeom>
        </p:spPr>
        <p:txBody>
          <a:bodyPr lIns="0" tIns="0" rIns="0" bIns="0" rtlCol="0" anchor="t">
            <a:spAutoFit/>
          </a:bodyPr>
          <a:lstStyle/>
          <a:p>
            <a:pPr algn="ctr">
              <a:lnSpc>
                <a:spcPts val="3920"/>
              </a:lnSpc>
            </a:pPr>
            <a:r>
              <a:rPr lang="en-US" sz="2800" b="1">
                <a:solidFill>
                  <a:srgbClr val="344E41"/>
                </a:solidFill>
                <a:latin typeface="Raleway Bold" panose="020B0803030101060003"/>
                <a:ea typeface="Raleway Bold" panose="020B0803030101060003"/>
                <a:cs typeface="Raleway Bold" panose="020B0803030101060003"/>
                <a:sym typeface="Raleway Bold" panose="020B0803030101060003"/>
              </a:rPr>
              <a:t>BIRONDO, IAN KENNETH</a:t>
            </a:r>
            <a:endParaRPr lang="en-US" sz="28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12" name="TextBox 12"/>
          <p:cNvSpPr txBox="1"/>
          <p:nvPr/>
        </p:nvSpPr>
        <p:spPr>
          <a:xfrm>
            <a:off x="1612780" y="8010429"/>
            <a:ext cx="3065706" cy="490855"/>
          </a:xfrm>
          <a:prstGeom prst="rect">
            <a:avLst/>
          </a:prstGeom>
        </p:spPr>
        <p:txBody>
          <a:bodyPr lIns="0" tIns="0" rIns="0" bIns="0" rtlCol="0" anchor="t">
            <a:spAutoFit/>
          </a:bodyPr>
          <a:lstStyle/>
          <a:p>
            <a:pPr algn="l">
              <a:lnSpc>
                <a:spcPts val="3920"/>
              </a:lnSpc>
            </a:pPr>
            <a:r>
              <a:rPr lang="en-US" sz="2800" b="1">
                <a:solidFill>
                  <a:srgbClr val="344E41"/>
                </a:solidFill>
                <a:latin typeface="Raleway Bold" panose="020B0803030101060003"/>
                <a:ea typeface="Raleway Bold" panose="020B0803030101060003"/>
                <a:cs typeface="Raleway Bold" panose="020B0803030101060003"/>
                <a:sym typeface="Raleway Bold" panose="020B0803030101060003"/>
              </a:rPr>
              <a:t>PERCY, RENE</a:t>
            </a:r>
            <a:endParaRPr lang="en-US" sz="28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13" name="AutoShape 13"/>
          <p:cNvSpPr/>
          <p:nvPr/>
        </p:nvSpPr>
        <p:spPr>
          <a:xfrm>
            <a:off x="1362075" y="5138738"/>
            <a:ext cx="15337937" cy="0"/>
          </a:xfrm>
          <a:prstGeom prst="line">
            <a:avLst/>
          </a:prstGeom>
          <a:ln w="9525" cap="flat">
            <a:solidFill>
              <a:srgbClr val="804F3B"/>
            </a:solidFill>
            <a:prstDash val="solid"/>
            <a:headEnd type="none" w="sm" len="sm"/>
            <a:tailEnd type="none" w="sm" len="sm"/>
          </a:ln>
        </p:spPr>
      </p:sp>
      <p:sp>
        <p:nvSpPr>
          <p:cNvPr id="14" name="AutoShape 14"/>
          <p:cNvSpPr/>
          <p:nvPr/>
        </p:nvSpPr>
        <p:spPr>
          <a:xfrm>
            <a:off x="1362075" y="6657911"/>
            <a:ext cx="15337937" cy="0"/>
          </a:xfrm>
          <a:prstGeom prst="line">
            <a:avLst/>
          </a:prstGeom>
          <a:ln w="9525" cap="flat">
            <a:solidFill>
              <a:srgbClr val="804F3B"/>
            </a:solidFill>
            <a:prstDash val="solid"/>
            <a:headEnd type="none" w="sm" len="sm"/>
            <a:tailEnd type="none" w="sm" len="sm"/>
          </a:ln>
        </p:spPr>
      </p:sp>
      <p:sp>
        <p:nvSpPr>
          <p:cNvPr id="15" name="AutoShape 15"/>
          <p:cNvSpPr/>
          <p:nvPr/>
        </p:nvSpPr>
        <p:spPr>
          <a:xfrm>
            <a:off x="1371917" y="7789767"/>
            <a:ext cx="4837458" cy="0"/>
          </a:xfrm>
          <a:prstGeom prst="line">
            <a:avLst/>
          </a:prstGeom>
          <a:ln w="9525" cap="flat">
            <a:solidFill>
              <a:srgbClr val="804F3B"/>
            </a:solidFill>
            <a:prstDash val="solid"/>
            <a:headEnd type="none" w="sm" len="sm"/>
            <a:tailEnd type="none" w="sm" len="sm"/>
          </a:ln>
        </p:spPr>
      </p:sp>
      <p:sp>
        <p:nvSpPr>
          <p:cNvPr id="16" name="AutoShape 16"/>
          <p:cNvSpPr/>
          <p:nvPr/>
        </p:nvSpPr>
        <p:spPr>
          <a:xfrm>
            <a:off x="1362075" y="2427342"/>
            <a:ext cx="15337937" cy="0"/>
          </a:xfrm>
          <a:prstGeom prst="line">
            <a:avLst/>
          </a:prstGeom>
          <a:ln w="9525" cap="flat">
            <a:solidFill>
              <a:srgbClr val="804F3B"/>
            </a:solidFill>
            <a:prstDash val="solid"/>
            <a:headEnd type="none" w="sm" len="sm"/>
            <a:tailEnd type="none" w="sm" len="sm"/>
          </a:ln>
        </p:spPr>
      </p:sp>
      <p:sp>
        <p:nvSpPr>
          <p:cNvPr id="17" name="AutoShape 17"/>
          <p:cNvSpPr/>
          <p:nvPr/>
        </p:nvSpPr>
        <p:spPr>
          <a:xfrm>
            <a:off x="1362075" y="8920734"/>
            <a:ext cx="15337937" cy="0"/>
          </a:xfrm>
          <a:prstGeom prst="line">
            <a:avLst/>
          </a:prstGeom>
          <a:ln w="9525" cap="flat">
            <a:solidFill>
              <a:srgbClr val="804F3B"/>
            </a:solidFill>
            <a:prstDash val="solid"/>
            <a:headEnd type="none" w="sm" len="sm"/>
            <a:tailEnd type="none" w="sm" len="sm"/>
          </a:ln>
        </p:spPr>
      </p:sp>
      <p:sp>
        <p:nvSpPr>
          <p:cNvPr id="18" name="AutoShape 18"/>
          <p:cNvSpPr/>
          <p:nvPr/>
        </p:nvSpPr>
        <p:spPr>
          <a:xfrm>
            <a:off x="16704775" y="2432105"/>
            <a:ext cx="0" cy="6488629"/>
          </a:xfrm>
          <a:prstGeom prst="line">
            <a:avLst/>
          </a:prstGeom>
          <a:ln w="9525" cap="flat">
            <a:solidFill>
              <a:srgbClr val="804F3B"/>
            </a:solidFill>
            <a:prstDash val="solid"/>
            <a:headEnd type="none" w="sm" len="sm"/>
            <a:tailEnd type="none" w="sm" len="sm"/>
          </a:ln>
        </p:spPr>
      </p:sp>
      <p:sp>
        <p:nvSpPr>
          <p:cNvPr id="19" name="AutoShape 19"/>
          <p:cNvSpPr/>
          <p:nvPr/>
        </p:nvSpPr>
        <p:spPr>
          <a:xfrm>
            <a:off x="1366837" y="2432105"/>
            <a:ext cx="0" cy="6488629"/>
          </a:xfrm>
          <a:prstGeom prst="line">
            <a:avLst/>
          </a:prstGeom>
          <a:ln w="9525" cap="flat">
            <a:solidFill>
              <a:srgbClr val="804F3B"/>
            </a:solidFill>
            <a:prstDash val="solid"/>
            <a:headEnd type="none" w="sm" len="sm"/>
            <a:tailEnd type="none" w="sm" len="sm"/>
          </a:ln>
        </p:spPr>
      </p:sp>
      <p:sp>
        <p:nvSpPr>
          <p:cNvPr id="20" name="TextBox 20"/>
          <p:cNvSpPr txBox="1"/>
          <p:nvPr/>
        </p:nvSpPr>
        <p:spPr>
          <a:xfrm>
            <a:off x="9139238" y="4652327"/>
            <a:ext cx="9525" cy="887095"/>
          </a:xfrm>
          <a:prstGeom prst="rect">
            <a:avLst/>
          </a:prstGeom>
        </p:spPr>
        <p:txBody>
          <a:bodyPr lIns="0" tIns="0" rIns="0" bIns="0" rtlCol="0" anchor="t">
            <a:spAutoFit/>
          </a:bodyPr>
          <a:lstStyle/>
          <a:p>
            <a:pPr algn="ctr">
              <a:lnSpc>
                <a:spcPts val="7280"/>
              </a:lnSpc>
            </a:pPr>
          </a:p>
        </p:txBody>
      </p:sp>
      <p:sp>
        <p:nvSpPr>
          <p:cNvPr id="21" name="TextBox 21"/>
          <p:cNvSpPr txBox="1"/>
          <p:nvPr/>
        </p:nvSpPr>
        <p:spPr>
          <a:xfrm>
            <a:off x="6400511" y="2598737"/>
            <a:ext cx="3918680" cy="1238250"/>
          </a:xfrm>
          <a:prstGeom prst="rect">
            <a:avLst/>
          </a:prstGeom>
        </p:spPr>
        <p:txBody>
          <a:bodyPr lIns="0" tIns="0" rIns="0" bIns="0" rtlCol="0" anchor="t">
            <a:spAutoFit/>
          </a:bodyPr>
          <a:lstStyle/>
          <a:p>
            <a:pPr algn="ctr">
              <a:lnSpc>
                <a:spcPts val="3220"/>
              </a:lnSpc>
            </a:pPr>
            <a:r>
              <a:rPr lang="en-US" sz="2300" b="1">
                <a:solidFill>
                  <a:srgbClr val="344E41"/>
                </a:solidFill>
                <a:latin typeface="Canva Sans Bold" panose="020B0803030501040103"/>
                <a:ea typeface="Canva Sans Bold" panose="020B0803030501040103"/>
                <a:cs typeface="Canva Sans Bold" panose="020B0803030501040103"/>
                <a:sym typeface="Canva Sans Bold" panose="020B0803030501040103"/>
              </a:rPr>
              <a:t>PROJECT </a:t>
            </a:r>
            <a:r>
              <a:rPr lang="en-US" sz="2400" b="1">
                <a:solidFill>
                  <a:srgbClr val="344E41"/>
                </a:solidFill>
                <a:latin typeface="Canva Sans Bold" panose="020B0803030501040103"/>
                <a:ea typeface="Canva Sans Bold" panose="020B0803030501040103"/>
                <a:cs typeface="Canva Sans Bold" panose="020B0803030501040103"/>
                <a:sym typeface="Canva Sans Bold" panose="020B0803030501040103"/>
              </a:rPr>
              <a:t>MANAGER</a:t>
            </a:r>
            <a:r>
              <a:rPr lang="en-US" sz="2300" b="1">
                <a:solidFill>
                  <a:srgbClr val="344E41"/>
                </a:solidFill>
                <a:latin typeface="Canva Sans Bold" panose="020B0803030501040103"/>
                <a:ea typeface="Canva Sans Bold" panose="020B0803030501040103"/>
                <a:cs typeface="Canva Sans Bold" panose="020B0803030501040103"/>
                <a:sym typeface="Canva Sans Bold" panose="020B0803030501040103"/>
              </a:rPr>
              <a:t>/SCRUM MASTER</a:t>
            </a:r>
            <a:endParaRPr lang="en-US" sz="23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22" name="AutoShape 22"/>
          <p:cNvSpPr/>
          <p:nvPr/>
        </p:nvSpPr>
        <p:spPr>
          <a:xfrm>
            <a:off x="6199533" y="2427342"/>
            <a:ext cx="0" cy="6488629"/>
          </a:xfrm>
          <a:prstGeom prst="line">
            <a:avLst/>
          </a:prstGeom>
          <a:ln w="9525" cap="flat">
            <a:solidFill>
              <a:srgbClr val="804F3B"/>
            </a:solidFill>
            <a:prstDash val="solid"/>
            <a:headEnd type="none" w="sm" len="sm"/>
            <a:tailEnd type="none" w="sm" len="sm"/>
          </a:ln>
        </p:spPr>
      </p:sp>
      <p:sp>
        <p:nvSpPr>
          <p:cNvPr id="23" name="TextBox 23"/>
          <p:cNvSpPr txBox="1"/>
          <p:nvPr/>
        </p:nvSpPr>
        <p:spPr>
          <a:xfrm>
            <a:off x="6442421" y="4290350"/>
            <a:ext cx="3918680" cy="412750"/>
          </a:xfrm>
          <a:prstGeom prst="rect">
            <a:avLst/>
          </a:prstGeom>
        </p:spPr>
        <p:txBody>
          <a:bodyPr lIns="0" tIns="0" rIns="0" bIns="0" rtlCol="0" anchor="t">
            <a:spAutoFit/>
          </a:bodyPr>
          <a:lstStyle/>
          <a:p>
            <a:pPr algn="ctr">
              <a:lnSpc>
                <a:spcPts val="3220"/>
              </a:lnSpc>
            </a:pPr>
            <a:r>
              <a:rPr lang="en-US" sz="2300" b="1">
                <a:solidFill>
                  <a:srgbClr val="344E41"/>
                </a:solidFill>
                <a:latin typeface="Canva Sans Bold" panose="020B0803030501040103"/>
                <a:ea typeface="Canva Sans Bold" panose="020B0803030501040103"/>
                <a:cs typeface="Canva Sans Bold" panose="020B0803030501040103"/>
                <a:sym typeface="Canva Sans Bold" panose="020B0803030501040103"/>
              </a:rPr>
              <a:t>UI/UX DESIGNER</a:t>
            </a:r>
            <a:endParaRPr lang="en-US" sz="23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24" name="TextBox 24"/>
          <p:cNvSpPr txBox="1"/>
          <p:nvPr/>
        </p:nvSpPr>
        <p:spPr>
          <a:xfrm>
            <a:off x="6487150" y="5670805"/>
            <a:ext cx="3918680" cy="412750"/>
          </a:xfrm>
          <a:prstGeom prst="rect">
            <a:avLst/>
          </a:prstGeom>
        </p:spPr>
        <p:txBody>
          <a:bodyPr lIns="0" tIns="0" rIns="0" bIns="0" rtlCol="0" anchor="t">
            <a:spAutoFit/>
          </a:bodyPr>
          <a:lstStyle/>
          <a:p>
            <a:pPr algn="ctr">
              <a:lnSpc>
                <a:spcPts val="3220"/>
              </a:lnSpc>
            </a:pPr>
            <a:r>
              <a:rPr lang="en-US" sz="2400" b="1">
                <a:solidFill>
                  <a:srgbClr val="344E41"/>
                </a:solidFill>
                <a:latin typeface="Canva Sans Bold" panose="020B0803030501040103"/>
                <a:ea typeface="Canva Sans Bold" panose="020B0803030501040103"/>
                <a:cs typeface="Canva Sans Bold" panose="020B0803030501040103"/>
                <a:sym typeface="Canva Sans Bold" panose="020B0803030501040103"/>
              </a:rPr>
              <a:t>DOCUMENTATION LEAD</a:t>
            </a:r>
            <a:endParaRPr lang="en-US" sz="24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25" name="TextBox 25"/>
          <p:cNvSpPr txBox="1"/>
          <p:nvPr/>
        </p:nvSpPr>
        <p:spPr>
          <a:xfrm>
            <a:off x="6487150" y="7349713"/>
            <a:ext cx="3918680" cy="412750"/>
          </a:xfrm>
          <a:prstGeom prst="rect">
            <a:avLst/>
          </a:prstGeom>
        </p:spPr>
        <p:txBody>
          <a:bodyPr lIns="0" tIns="0" rIns="0" bIns="0" rtlCol="0" anchor="t">
            <a:spAutoFit/>
          </a:bodyPr>
          <a:lstStyle/>
          <a:p>
            <a:pPr algn="ctr">
              <a:lnSpc>
                <a:spcPts val="3220"/>
              </a:lnSpc>
            </a:pPr>
            <a:r>
              <a:rPr lang="en-US" sz="2400" b="1">
                <a:solidFill>
                  <a:srgbClr val="344E41"/>
                </a:solidFill>
                <a:latin typeface="Canva Sans Bold" panose="020B0803030501040103"/>
                <a:ea typeface="Canva Sans Bold" panose="020B0803030501040103"/>
                <a:cs typeface="Canva Sans Bold" panose="020B0803030501040103"/>
                <a:sym typeface="Canva Sans Bold" panose="020B0803030501040103"/>
              </a:rPr>
              <a:t>BACK-END DEV</a:t>
            </a:r>
            <a:endParaRPr lang="en-US" sz="24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26" name="TextBox 26"/>
          <p:cNvSpPr txBox="1"/>
          <p:nvPr/>
        </p:nvSpPr>
        <p:spPr>
          <a:xfrm>
            <a:off x="11756938" y="2635195"/>
            <a:ext cx="3918680" cy="905510"/>
          </a:xfrm>
          <a:prstGeom prst="rect">
            <a:avLst/>
          </a:prstGeom>
        </p:spPr>
        <p:txBody>
          <a:bodyPr lIns="0" tIns="0" rIns="0" bIns="0" rtlCol="0" anchor="t">
            <a:spAutoFit/>
          </a:bodyPr>
          <a:lstStyle/>
          <a:p>
            <a:pPr algn="ctr">
              <a:lnSpc>
                <a:spcPts val="3640"/>
              </a:lnSpc>
            </a:pPr>
            <a:r>
              <a:rPr lang="en-US" sz="2600">
                <a:solidFill>
                  <a:srgbClr val="344E41"/>
                </a:solidFill>
                <a:latin typeface="Canva Sans" panose="020B0503030501040103"/>
                <a:ea typeface="Canva Sans" panose="020B0503030501040103"/>
                <a:cs typeface="Canva Sans" panose="020B0503030501040103"/>
                <a:sym typeface="Canva Sans" panose="020B0503030501040103"/>
              </a:rPr>
              <a:t>Keeps the tean organized and on track</a:t>
            </a:r>
            <a:endParaRPr lang="en-US" sz="2600">
              <a:solidFill>
                <a:srgbClr val="344E41"/>
              </a:solidFill>
              <a:latin typeface="Canva Sans" panose="020B0503030501040103"/>
              <a:ea typeface="Canva Sans" panose="020B0503030501040103"/>
              <a:cs typeface="Canva Sans" panose="020B0503030501040103"/>
              <a:sym typeface="Canva Sans" panose="020B0503030501040103"/>
            </a:endParaRPr>
          </a:p>
        </p:txBody>
      </p:sp>
      <p:sp>
        <p:nvSpPr>
          <p:cNvPr id="27" name="TextBox 27"/>
          <p:cNvSpPr txBox="1"/>
          <p:nvPr/>
        </p:nvSpPr>
        <p:spPr>
          <a:xfrm>
            <a:off x="11863595" y="4080800"/>
            <a:ext cx="3918680" cy="905510"/>
          </a:xfrm>
          <a:prstGeom prst="rect">
            <a:avLst/>
          </a:prstGeom>
        </p:spPr>
        <p:txBody>
          <a:bodyPr lIns="0" tIns="0" rIns="0" bIns="0" rtlCol="0" anchor="t">
            <a:spAutoFit/>
          </a:bodyPr>
          <a:lstStyle/>
          <a:p>
            <a:pPr algn="ctr">
              <a:lnSpc>
                <a:spcPts val="3640"/>
              </a:lnSpc>
            </a:pPr>
            <a:r>
              <a:rPr lang="en-US" sz="2600">
                <a:solidFill>
                  <a:srgbClr val="344E41"/>
                </a:solidFill>
                <a:latin typeface="Canva Sans" panose="020B0503030501040103"/>
                <a:ea typeface="Canva Sans" panose="020B0503030501040103"/>
                <a:cs typeface="Canva Sans" panose="020B0503030501040103"/>
                <a:sym typeface="Canva Sans" panose="020B0503030501040103"/>
              </a:rPr>
              <a:t>Designs the interface layout and user flow</a:t>
            </a:r>
            <a:endParaRPr lang="en-US" sz="2600">
              <a:solidFill>
                <a:srgbClr val="344E41"/>
              </a:solidFill>
              <a:latin typeface="Canva Sans" panose="020B0503030501040103"/>
              <a:ea typeface="Canva Sans" panose="020B0503030501040103"/>
              <a:cs typeface="Canva Sans" panose="020B0503030501040103"/>
              <a:sym typeface="Canva Sans" panose="020B0503030501040103"/>
            </a:endParaRPr>
          </a:p>
        </p:txBody>
      </p:sp>
      <p:sp>
        <p:nvSpPr>
          <p:cNvPr id="28" name="TextBox 28"/>
          <p:cNvSpPr txBox="1"/>
          <p:nvPr/>
        </p:nvSpPr>
        <p:spPr>
          <a:xfrm>
            <a:off x="11756938" y="5188394"/>
            <a:ext cx="3918680" cy="1400175"/>
          </a:xfrm>
          <a:prstGeom prst="rect">
            <a:avLst/>
          </a:prstGeom>
        </p:spPr>
        <p:txBody>
          <a:bodyPr lIns="0" tIns="0" rIns="0" bIns="0" rtlCol="0" anchor="t">
            <a:spAutoFit/>
          </a:bodyPr>
          <a:lstStyle/>
          <a:p>
            <a:pPr algn="ctr">
              <a:lnSpc>
                <a:spcPts val="3640"/>
              </a:lnSpc>
            </a:pPr>
            <a:r>
              <a:rPr lang="en-US" sz="2600">
                <a:solidFill>
                  <a:srgbClr val="344E41"/>
                </a:solidFill>
                <a:latin typeface="Canva Sans" panose="020B0503030501040103"/>
                <a:ea typeface="Canva Sans" panose="020B0503030501040103"/>
                <a:cs typeface="Canva Sans" panose="020B0503030501040103"/>
                <a:sym typeface="Canva Sans" panose="020B0503030501040103"/>
              </a:rPr>
              <a:t>Writes reports, project updates, and system des</a:t>
            </a:r>
            <a:r>
              <a:rPr lang="en-PH" altLang="en-US" sz="2600">
                <a:solidFill>
                  <a:srgbClr val="344E41"/>
                </a:solidFill>
                <a:latin typeface="Canva Sans" panose="020B0503030501040103"/>
                <a:ea typeface="Canva Sans" panose="020B0503030501040103"/>
                <a:cs typeface="Canva Sans" panose="020B0503030501040103"/>
                <a:sym typeface="Canva Sans" panose="020B0503030501040103"/>
              </a:rPr>
              <a:t>c</a:t>
            </a:r>
            <a:r>
              <a:rPr lang="en-US" sz="2600">
                <a:solidFill>
                  <a:srgbClr val="344E41"/>
                </a:solidFill>
                <a:latin typeface="Canva Sans" panose="020B0503030501040103"/>
                <a:ea typeface="Canva Sans" panose="020B0503030501040103"/>
                <a:cs typeface="Canva Sans" panose="020B0503030501040103"/>
                <a:sym typeface="Canva Sans" panose="020B0503030501040103"/>
              </a:rPr>
              <a:t>ription</a:t>
            </a:r>
            <a:endParaRPr lang="en-US" sz="2600">
              <a:solidFill>
                <a:srgbClr val="344E41"/>
              </a:solidFill>
              <a:latin typeface="Canva Sans" panose="020B0503030501040103"/>
              <a:ea typeface="Canva Sans" panose="020B0503030501040103"/>
              <a:cs typeface="Canva Sans" panose="020B0503030501040103"/>
              <a:sym typeface="Canva Sans" panose="020B0503030501040103"/>
            </a:endParaRPr>
          </a:p>
        </p:txBody>
      </p:sp>
      <p:sp>
        <p:nvSpPr>
          <p:cNvPr id="29" name="TextBox 29"/>
          <p:cNvSpPr txBox="1"/>
          <p:nvPr/>
        </p:nvSpPr>
        <p:spPr>
          <a:xfrm>
            <a:off x="11863595" y="7278275"/>
            <a:ext cx="3918680" cy="905510"/>
          </a:xfrm>
          <a:prstGeom prst="rect">
            <a:avLst/>
          </a:prstGeom>
        </p:spPr>
        <p:txBody>
          <a:bodyPr lIns="0" tIns="0" rIns="0" bIns="0" rtlCol="0" anchor="t">
            <a:spAutoFit/>
          </a:bodyPr>
          <a:lstStyle/>
          <a:p>
            <a:pPr algn="ctr">
              <a:lnSpc>
                <a:spcPts val="3640"/>
              </a:lnSpc>
            </a:pPr>
            <a:r>
              <a:rPr lang="en-US" sz="2600">
                <a:solidFill>
                  <a:srgbClr val="344E41"/>
                </a:solidFill>
                <a:latin typeface="Canva Sans" panose="020B0503030501040103"/>
                <a:ea typeface="Canva Sans" panose="020B0503030501040103"/>
                <a:cs typeface="Canva Sans" panose="020B0503030501040103"/>
                <a:sym typeface="Canva Sans" panose="020B0503030501040103"/>
              </a:rPr>
              <a:t>Handles the database and server-side logic</a:t>
            </a:r>
            <a:endParaRPr lang="en-US" sz="2600">
              <a:solidFill>
                <a:srgbClr val="344E41"/>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rot="0">
            <a:off x="1905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TextBox 4"/>
          <p:cNvSpPr txBox="1"/>
          <p:nvPr/>
        </p:nvSpPr>
        <p:spPr>
          <a:xfrm>
            <a:off x="4162458" y="571711"/>
            <a:ext cx="9385200" cy="1019176"/>
          </a:xfrm>
          <a:prstGeom prst="rect">
            <a:avLst/>
          </a:prstGeom>
        </p:spPr>
        <p:txBody>
          <a:bodyPr lIns="0" tIns="0" rIns="0" bIns="0" rtlCol="0" anchor="t">
            <a:spAutoFit/>
          </a:bodyPr>
          <a:lstStyle/>
          <a:p>
            <a:pPr algn="l">
              <a:lnSpc>
                <a:spcPts val="8400"/>
              </a:lnSpc>
            </a:pPr>
            <a:r>
              <a:rPr lang="en-US" sz="6000" b="1">
                <a:solidFill>
                  <a:srgbClr val="344E41"/>
                </a:solidFill>
                <a:latin typeface="Raleway Bold" panose="020B0803030101060003"/>
                <a:ea typeface="Raleway Bold" panose="020B0803030101060003"/>
                <a:cs typeface="Raleway Bold" panose="020B0803030101060003"/>
                <a:sym typeface="Raleway Bold" panose="020B0803030101060003"/>
              </a:rPr>
              <a:t>CLIENT INTRODUCTIONS</a:t>
            </a:r>
            <a:endParaRPr lang="en-US" sz="60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5" name="TextBox 5"/>
          <p:cNvSpPr txBox="1"/>
          <p:nvPr/>
        </p:nvSpPr>
        <p:spPr>
          <a:xfrm>
            <a:off x="1430315" y="2123016"/>
            <a:ext cx="6906417" cy="1462123"/>
          </a:xfrm>
          <a:prstGeom prst="rect">
            <a:avLst/>
          </a:prstGeom>
        </p:spPr>
        <p:txBody>
          <a:bodyPr lIns="0" tIns="0" rIns="0" bIns="0" rtlCol="0" anchor="t">
            <a:spAutoFit/>
          </a:bodyPr>
          <a:lstStyle/>
          <a:p>
            <a:pPr algn="l">
              <a:lnSpc>
                <a:spcPts val="3935"/>
              </a:lnSpc>
            </a:pPr>
          </a:p>
          <a:p>
            <a:pPr algn="l">
              <a:lnSpc>
                <a:spcPts val="3935"/>
              </a:lnSpc>
            </a:pPr>
            <a:r>
              <a:rPr lang="en-US" sz="2810" b="1">
                <a:solidFill>
                  <a:srgbClr val="344E41"/>
                </a:solidFill>
                <a:latin typeface="Canva Sans Bold" panose="020B0803030501040103"/>
                <a:ea typeface="Canva Sans Bold" panose="020B0803030501040103"/>
                <a:cs typeface="Canva Sans Bold" panose="020B0803030501040103"/>
                <a:sym typeface="Canva Sans Bold" panose="020B0803030501040103"/>
              </a:rPr>
              <a:t>  Client Name: Salarda, Jose Rene </a:t>
            </a:r>
            <a:endParaRPr lang="en-US" sz="281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algn="l">
              <a:lnSpc>
                <a:spcPts val="3935"/>
              </a:lnSpc>
            </a:pPr>
          </a:p>
        </p:txBody>
      </p:sp>
      <p:sp>
        <p:nvSpPr>
          <p:cNvPr id="6" name="AutoShape 6"/>
          <p:cNvSpPr/>
          <p:nvPr/>
        </p:nvSpPr>
        <p:spPr>
          <a:xfrm>
            <a:off x="1409700" y="2422580"/>
            <a:ext cx="15337937" cy="0"/>
          </a:xfrm>
          <a:prstGeom prst="line">
            <a:avLst/>
          </a:prstGeom>
          <a:ln w="9525" cap="flat">
            <a:solidFill>
              <a:srgbClr val="804F3B"/>
            </a:solidFill>
            <a:prstDash val="solid"/>
            <a:headEnd type="none" w="sm" len="sm"/>
            <a:tailEnd type="none" w="sm" len="sm"/>
          </a:ln>
        </p:spPr>
      </p:sp>
      <p:sp>
        <p:nvSpPr>
          <p:cNvPr id="7" name="AutoShape 7"/>
          <p:cNvSpPr/>
          <p:nvPr/>
        </p:nvSpPr>
        <p:spPr>
          <a:xfrm flipH="1">
            <a:off x="9298251" y="3218822"/>
            <a:ext cx="0" cy="5701911"/>
          </a:xfrm>
          <a:prstGeom prst="line">
            <a:avLst/>
          </a:prstGeom>
          <a:ln w="9525" cap="flat">
            <a:solidFill>
              <a:srgbClr val="804F3B"/>
            </a:solidFill>
            <a:prstDash val="solid"/>
            <a:headEnd type="none" w="sm" len="sm"/>
            <a:tailEnd type="none" w="sm" len="sm"/>
          </a:ln>
        </p:spPr>
      </p:sp>
      <p:sp>
        <p:nvSpPr>
          <p:cNvPr id="8" name="AutoShape 8"/>
          <p:cNvSpPr/>
          <p:nvPr/>
        </p:nvSpPr>
        <p:spPr>
          <a:xfrm>
            <a:off x="1409700" y="3218822"/>
            <a:ext cx="15337937" cy="0"/>
          </a:xfrm>
          <a:prstGeom prst="line">
            <a:avLst/>
          </a:prstGeom>
          <a:ln w="9525" cap="flat">
            <a:solidFill>
              <a:srgbClr val="804F3B"/>
            </a:solidFill>
            <a:prstDash val="solid"/>
            <a:headEnd type="none" w="sm" len="sm"/>
            <a:tailEnd type="none" w="sm" len="sm"/>
          </a:ln>
        </p:spPr>
      </p:sp>
      <p:sp>
        <p:nvSpPr>
          <p:cNvPr id="9" name="AutoShape 9"/>
          <p:cNvSpPr/>
          <p:nvPr/>
        </p:nvSpPr>
        <p:spPr>
          <a:xfrm flipH="1">
            <a:off x="1409700" y="2422580"/>
            <a:ext cx="4762" cy="6493391"/>
          </a:xfrm>
          <a:prstGeom prst="line">
            <a:avLst/>
          </a:prstGeom>
          <a:ln w="9525" cap="flat">
            <a:solidFill>
              <a:srgbClr val="804F3B"/>
            </a:solidFill>
            <a:prstDash val="solid"/>
            <a:headEnd type="none" w="sm" len="sm"/>
            <a:tailEnd type="none" w="sm" len="sm"/>
          </a:ln>
        </p:spPr>
      </p:sp>
      <p:sp>
        <p:nvSpPr>
          <p:cNvPr id="10" name="AutoShape 10"/>
          <p:cNvSpPr/>
          <p:nvPr/>
        </p:nvSpPr>
        <p:spPr>
          <a:xfrm flipH="1">
            <a:off x="16738112" y="2422583"/>
            <a:ext cx="4762" cy="6493391"/>
          </a:xfrm>
          <a:prstGeom prst="line">
            <a:avLst/>
          </a:prstGeom>
          <a:ln w="9525" cap="flat">
            <a:solidFill>
              <a:srgbClr val="804F3B"/>
            </a:solidFill>
            <a:prstDash val="solid"/>
            <a:headEnd type="none" w="sm" len="sm"/>
            <a:tailEnd type="none" w="sm" len="sm"/>
          </a:ln>
        </p:spPr>
      </p:sp>
      <p:sp>
        <p:nvSpPr>
          <p:cNvPr id="11" name="TextBox 11"/>
          <p:cNvSpPr txBox="1"/>
          <p:nvPr/>
        </p:nvSpPr>
        <p:spPr>
          <a:xfrm>
            <a:off x="2971932" y="3339831"/>
            <a:ext cx="4625340" cy="662939"/>
          </a:xfrm>
          <a:prstGeom prst="rect">
            <a:avLst/>
          </a:prstGeom>
        </p:spPr>
        <p:txBody>
          <a:bodyPr lIns="0" tIns="0" rIns="0" bIns="0" rtlCol="0" anchor="t">
            <a:spAutoFit/>
          </a:bodyPr>
          <a:lstStyle/>
          <a:p>
            <a:pPr algn="ctr">
              <a:lnSpc>
                <a:spcPts val="5460"/>
              </a:lnSpc>
            </a:pPr>
            <a:r>
              <a:rPr lang="en-US" sz="3900" b="1">
                <a:solidFill>
                  <a:srgbClr val="344E41"/>
                </a:solidFill>
                <a:latin typeface="Canva Sans Bold" panose="020B0803030501040103"/>
                <a:ea typeface="Canva Sans Bold" panose="020B0803030501040103"/>
                <a:cs typeface="Canva Sans Bold" panose="020B0803030501040103"/>
                <a:sym typeface="Canva Sans Bold" panose="020B0803030501040103"/>
              </a:rPr>
              <a:t>TYPE OF BUSINESS</a:t>
            </a:r>
            <a:endParaRPr lang="en-US" sz="39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2" name="TextBox 12"/>
          <p:cNvSpPr txBox="1"/>
          <p:nvPr/>
        </p:nvSpPr>
        <p:spPr>
          <a:xfrm>
            <a:off x="9452907" y="3459409"/>
            <a:ext cx="7130549" cy="1348739"/>
          </a:xfrm>
          <a:prstGeom prst="rect">
            <a:avLst/>
          </a:prstGeom>
        </p:spPr>
        <p:txBody>
          <a:bodyPr lIns="0" tIns="0" rIns="0" bIns="0" rtlCol="0" anchor="t">
            <a:spAutoFit/>
          </a:bodyPr>
          <a:lstStyle/>
          <a:p>
            <a:pPr algn="ctr">
              <a:lnSpc>
                <a:spcPts val="5460"/>
              </a:lnSpc>
            </a:pPr>
            <a:r>
              <a:rPr lang="en-US" sz="3900" b="1">
                <a:solidFill>
                  <a:srgbClr val="344E41"/>
                </a:solidFill>
                <a:latin typeface="Canva Sans Bold" panose="020B0803030501040103"/>
                <a:ea typeface="Canva Sans Bold" panose="020B0803030501040103"/>
                <a:cs typeface="Canva Sans Bold" panose="020B0803030501040103"/>
                <a:sym typeface="Canva Sans Bold" panose="020B0803030501040103"/>
              </a:rPr>
              <a:t>PRODUCTS OR SERVICES OFFERED</a:t>
            </a:r>
            <a:endParaRPr lang="en-US" sz="39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3" name="AutoShape 13"/>
          <p:cNvSpPr/>
          <p:nvPr/>
        </p:nvSpPr>
        <p:spPr>
          <a:xfrm>
            <a:off x="1400175" y="8911209"/>
            <a:ext cx="15337937" cy="0"/>
          </a:xfrm>
          <a:prstGeom prst="line">
            <a:avLst/>
          </a:prstGeom>
          <a:ln w="9525" cap="flat">
            <a:solidFill>
              <a:srgbClr val="804F3B"/>
            </a:solidFill>
            <a:prstDash val="solid"/>
            <a:headEnd type="none" w="sm" len="sm"/>
            <a:tailEnd type="none" w="sm" len="sm"/>
          </a:ln>
        </p:spPr>
      </p:sp>
      <p:sp>
        <p:nvSpPr>
          <p:cNvPr id="14" name="TextBox 14"/>
          <p:cNvSpPr txBox="1"/>
          <p:nvPr/>
        </p:nvSpPr>
        <p:spPr>
          <a:xfrm>
            <a:off x="2475997" y="6190865"/>
            <a:ext cx="5760720" cy="629919"/>
          </a:xfrm>
          <a:prstGeom prst="rect">
            <a:avLst/>
          </a:prstGeom>
        </p:spPr>
        <p:txBody>
          <a:bodyPr lIns="0" tIns="0" rIns="0" bIns="0" rtlCol="0" anchor="t">
            <a:spAutoFit/>
          </a:bodyPr>
          <a:lstStyle/>
          <a:p>
            <a:pPr marL="0" lvl="0" indent="0" algn="ctr">
              <a:lnSpc>
                <a:spcPts val="5180"/>
              </a:lnSpc>
              <a:spcBef>
                <a:spcPct val="0"/>
              </a:spcBef>
            </a:pPr>
            <a:r>
              <a:rPr 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rPr>
              <a:t>Land Rental / Land Seller</a:t>
            </a:r>
            <a:endParaRPr 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5" name="AutoShape 15"/>
          <p:cNvSpPr/>
          <p:nvPr/>
        </p:nvSpPr>
        <p:spPr>
          <a:xfrm>
            <a:off x="1400175" y="4921340"/>
            <a:ext cx="15337937" cy="0"/>
          </a:xfrm>
          <a:prstGeom prst="line">
            <a:avLst/>
          </a:prstGeom>
          <a:ln w="9525" cap="flat">
            <a:solidFill>
              <a:srgbClr val="804F3B"/>
            </a:solidFill>
            <a:prstDash val="solid"/>
            <a:headEnd type="none" w="sm" len="sm"/>
            <a:tailEnd type="none" w="sm" len="sm"/>
          </a:ln>
        </p:spPr>
      </p:sp>
      <p:sp>
        <p:nvSpPr>
          <p:cNvPr id="16" name="TextBox 16"/>
          <p:cNvSpPr txBox="1"/>
          <p:nvPr/>
        </p:nvSpPr>
        <p:spPr>
          <a:xfrm>
            <a:off x="9452907" y="5304727"/>
            <a:ext cx="6828512" cy="3258819"/>
          </a:xfrm>
          <a:prstGeom prst="rect">
            <a:avLst/>
          </a:prstGeom>
        </p:spPr>
        <p:txBody>
          <a:bodyPr lIns="0" tIns="0" rIns="0" bIns="0" rtlCol="0" anchor="t">
            <a:spAutoFit/>
          </a:bodyPr>
          <a:lstStyle/>
          <a:p>
            <a:pPr marL="798830" lvl="1" indent="-399415" algn="l">
              <a:lnSpc>
                <a:spcPts val="5180"/>
              </a:lnSpc>
              <a:buFont typeface="Arial" panose="020B0604020202020204"/>
              <a:buChar char="•"/>
            </a:pPr>
            <a:r>
              <a:rPr 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rPr>
              <a:t>Land leasing (short-term and long-term)</a:t>
            </a:r>
            <a:endParaRPr 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marL="798830" lvl="1" indent="-399415" algn="l">
              <a:lnSpc>
                <a:spcPts val="5180"/>
              </a:lnSpc>
              <a:buFont typeface="Arial" panose="020B0604020202020204"/>
              <a:buChar char="•"/>
            </a:pPr>
            <a:r>
              <a:rPr 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rPr>
              <a:t>Rental contracts and payment receipts</a:t>
            </a:r>
            <a:endParaRPr 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marL="0" lvl="0" indent="0" algn="ctr">
              <a:lnSpc>
                <a:spcPts val="5180"/>
              </a:lnSpc>
              <a:spcBef>
                <a:spcPct val="0"/>
              </a:spcBef>
            </a:pPr>
          </a:p>
        </p:txBody>
      </p:sp>
      <p:sp>
        <p:nvSpPr>
          <p:cNvPr id="18" name="Text Box 17"/>
          <p:cNvSpPr txBox="1"/>
          <p:nvPr/>
        </p:nvSpPr>
        <p:spPr>
          <a:xfrm>
            <a:off x="304800" y="9392285"/>
            <a:ext cx="3494405" cy="791210"/>
          </a:xfrm>
          <a:prstGeom prst="rect">
            <a:avLst/>
          </a:prstGeom>
          <a:noFill/>
        </p:spPr>
        <p:txBody>
          <a:bodyPr wrap="square" rtlCol="0" anchor="t">
            <a:spAutoFit/>
          </a:bodyPr>
          <a:p>
            <a:pPr algn="l">
              <a:lnSpc>
                <a:spcPts val="5460"/>
              </a:lnSpc>
            </a:pPr>
            <a:r>
              <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CLIENT 1</a:t>
            </a:r>
            <a:endPar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rot="0">
            <a:off x="1905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TextBox 4"/>
          <p:cNvSpPr txBox="1"/>
          <p:nvPr/>
        </p:nvSpPr>
        <p:spPr>
          <a:xfrm>
            <a:off x="4162458" y="571711"/>
            <a:ext cx="9385200" cy="1019176"/>
          </a:xfrm>
          <a:prstGeom prst="rect">
            <a:avLst/>
          </a:prstGeom>
        </p:spPr>
        <p:txBody>
          <a:bodyPr lIns="0" tIns="0" rIns="0" bIns="0" rtlCol="0" anchor="t">
            <a:spAutoFit/>
          </a:bodyPr>
          <a:lstStyle/>
          <a:p>
            <a:pPr algn="l">
              <a:lnSpc>
                <a:spcPts val="8400"/>
              </a:lnSpc>
            </a:pPr>
            <a:r>
              <a:rPr lang="en-US" sz="6000" b="1">
                <a:solidFill>
                  <a:srgbClr val="344E41"/>
                </a:solidFill>
                <a:latin typeface="Raleway Bold" panose="020B0803030101060003"/>
                <a:ea typeface="Raleway Bold" panose="020B0803030101060003"/>
                <a:cs typeface="Raleway Bold" panose="020B0803030101060003"/>
                <a:sym typeface="Raleway Bold" panose="020B0803030101060003"/>
              </a:rPr>
              <a:t>CLIENT INTRODUCTIONS</a:t>
            </a:r>
            <a:endParaRPr lang="en-US" sz="60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5" name="TextBox 5"/>
          <p:cNvSpPr txBox="1"/>
          <p:nvPr/>
        </p:nvSpPr>
        <p:spPr>
          <a:xfrm>
            <a:off x="1430315" y="2123016"/>
            <a:ext cx="6906417" cy="1513840"/>
          </a:xfrm>
          <a:prstGeom prst="rect">
            <a:avLst/>
          </a:prstGeom>
        </p:spPr>
        <p:txBody>
          <a:bodyPr lIns="0" tIns="0" rIns="0" bIns="0" rtlCol="0" anchor="t">
            <a:spAutoFit/>
          </a:bodyPr>
          <a:lstStyle/>
          <a:p>
            <a:pPr algn="l">
              <a:lnSpc>
                <a:spcPts val="3935"/>
              </a:lnSpc>
            </a:pPr>
          </a:p>
          <a:p>
            <a:pPr algn="l">
              <a:lnSpc>
                <a:spcPts val="3935"/>
              </a:lnSpc>
            </a:pPr>
            <a:r>
              <a:rPr lang="en-US" sz="2810" b="1">
                <a:solidFill>
                  <a:srgbClr val="344E41"/>
                </a:solidFill>
                <a:latin typeface="Canva Sans Bold" panose="020B0803030501040103"/>
                <a:ea typeface="Canva Sans Bold" panose="020B0803030501040103"/>
                <a:cs typeface="Canva Sans Bold" panose="020B0803030501040103"/>
                <a:sym typeface="Canva Sans Bold" panose="020B0803030501040103"/>
              </a:rPr>
              <a:t>  Client Name: </a:t>
            </a:r>
            <a:r>
              <a:rPr lang="en-US" altLang="en-US" sz="2810" b="1">
                <a:solidFill>
                  <a:srgbClr val="344E41"/>
                </a:solidFill>
                <a:latin typeface="Canva Sans Bold" panose="020B0803030501040103"/>
                <a:ea typeface="Canva Sans Bold" panose="020B0803030501040103"/>
                <a:cs typeface="Canva Sans Bold" panose="020B0803030501040103"/>
                <a:sym typeface="Canva Sans Bold" panose="020B0803030501040103"/>
              </a:rPr>
              <a:t> Sales</a:t>
            </a:r>
            <a:r>
              <a:rPr lang="en-PH" altLang="en-US" sz="2810" b="1">
                <a:solidFill>
                  <a:srgbClr val="344E41"/>
                </a:solidFill>
                <a:latin typeface="Canva Sans Bold" panose="020B0803030501040103"/>
                <a:ea typeface="Canva Sans Bold" panose="020B0803030501040103"/>
                <a:cs typeface="Canva Sans Bold" panose="020B0803030501040103"/>
                <a:sym typeface="Canva Sans Bold" panose="020B0803030501040103"/>
              </a:rPr>
              <a:t>, </a:t>
            </a:r>
            <a:r>
              <a:rPr lang="en-US" altLang="en-US" sz="2810" b="1">
                <a:solidFill>
                  <a:srgbClr val="344E41"/>
                </a:solidFill>
                <a:latin typeface="Canva Sans Bold" panose="020B0803030501040103"/>
                <a:ea typeface="Canva Sans Bold" panose="020B0803030501040103"/>
                <a:cs typeface="Canva Sans Bold" panose="020B0803030501040103"/>
                <a:sym typeface="Canva Sans Bold" panose="020B0803030501040103"/>
              </a:rPr>
              <a:t>Felix</a:t>
            </a:r>
            <a:endParaRPr lang="en-US" altLang="en-US" sz="281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algn="l">
              <a:lnSpc>
                <a:spcPts val="3935"/>
              </a:lnSpc>
            </a:pPr>
          </a:p>
        </p:txBody>
      </p:sp>
      <p:sp>
        <p:nvSpPr>
          <p:cNvPr id="6" name="AutoShape 6"/>
          <p:cNvSpPr/>
          <p:nvPr/>
        </p:nvSpPr>
        <p:spPr>
          <a:xfrm>
            <a:off x="1409700" y="2422580"/>
            <a:ext cx="15337937" cy="0"/>
          </a:xfrm>
          <a:prstGeom prst="line">
            <a:avLst/>
          </a:prstGeom>
          <a:ln w="9525" cap="flat">
            <a:solidFill>
              <a:srgbClr val="804F3B"/>
            </a:solidFill>
            <a:prstDash val="solid"/>
            <a:headEnd type="none" w="sm" len="sm"/>
            <a:tailEnd type="none" w="sm" len="sm"/>
          </a:ln>
        </p:spPr>
      </p:sp>
      <p:sp>
        <p:nvSpPr>
          <p:cNvPr id="7" name="AutoShape 7"/>
          <p:cNvSpPr/>
          <p:nvPr/>
        </p:nvSpPr>
        <p:spPr>
          <a:xfrm flipH="1">
            <a:off x="9298251" y="3218822"/>
            <a:ext cx="0" cy="5701911"/>
          </a:xfrm>
          <a:prstGeom prst="line">
            <a:avLst/>
          </a:prstGeom>
          <a:ln w="9525" cap="flat">
            <a:solidFill>
              <a:srgbClr val="804F3B"/>
            </a:solidFill>
            <a:prstDash val="solid"/>
            <a:headEnd type="none" w="sm" len="sm"/>
            <a:tailEnd type="none" w="sm" len="sm"/>
          </a:ln>
        </p:spPr>
      </p:sp>
      <p:sp>
        <p:nvSpPr>
          <p:cNvPr id="8" name="AutoShape 8"/>
          <p:cNvSpPr/>
          <p:nvPr/>
        </p:nvSpPr>
        <p:spPr>
          <a:xfrm>
            <a:off x="1409700" y="3218822"/>
            <a:ext cx="15337937" cy="0"/>
          </a:xfrm>
          <a:prstGeom prst="line">
            <a:avLst/>
          </a:prstGeom>
          <a:ln w="9525" cap="flat">
            <a:solidFill>
              <a:srgbClr val="804F3B"/>
            </a:solidFill>
            <a:prstDash val="solid"/>
            <a:headEnd type="none" w="sm" len="sm"/>
            <a:tailEnd type="none" w="sm" len="sm"/>
          </a:ln>
        </p:spPr>
      </p:sp>
      <p:sp>
        <p:nvSpPr>
          <p:cNvPr id="9" name="AutoShape 9"/>
          <p:cNvSpPr/>
          <p:nvPr/>
        </p:nvSpPr>
        <p:spPr>
          <a:xfrm flipH="1">
            <a:off x="1409700" y="2422580"/>
            <a:ext cx="4762" cy="6493391"/>
          </a:xfrm>
          <a:prstGeom prst="line">
            <a:avLst/>
          </a:prstGeom>
          <a:ln w="9525" cap="flat">
            <a:solidFill>
              <a:srgbClr val="804F3B"/>
            </a:solidFill>
            <a:prstDash val="solid"/>
            <a:headEnd type="none" w="sm" len="sm"/>
            <a:tailEnd type="none" w="sm" len="sm"/>
          </a:ln>
        </p:spPr>
      </p:sp>
      <p:sp>
        <p:nvSpPr>
          <p:cNvPr id="10" name="AutoShape 10"/>
          <p:cNvSpPr/>
          <p:nvPr/>
        </p:nvSpPr>
        <p:spPr>
          <a:xfrm flipH="1">
            <a:off x="16738112" y="2422583"/>
            <a:ext cx="4762" cy="6493391"/>
          </a:xfrm>
          <a:prstGeom prst="line">
            <a:avLst/>
          </a:prstGeom>
          <a:ln w="9525" cap="flat">
            <a:solidFill>
              <a:srgbClr val="804F3B"/>
            </a:solidFill>
            <a:prstDash val="solid"/>
            <a:headEnd type="none" w="sm" len="sm"/>
            <a:tailEnd type="none" w="sm" len="sm"/>
          </a:ln>
        </p:spPr>
      </p:sp>
      <p:sp>
        <p:nvSpPr>
          <p:cNvPr id="11" name="TextBox 11"/>
          <p:cNvSpPr txBox="1"/>
          <p:nvPr/>
        </p:nvSpPr>
        <p:spPr>
          <a:xfrm>
            <a:off x="2971932" y="3339831"/>
            <a:ext cx="4625340" cy="662939"/>
          </a:xfrm>
          <a:prstGeom prst="rect">
            <a:avLst/>
          </a:prstGeom>
        </p:spPr>
        <p:txBody>
          <a:bodyPr lIns="0" tIns="0" rIns="0" bIns="0" rtlCol="0" anchor="t">
            <a:spAutoFit/>
          </a:bodyPr>
          <a:lstStyle/>
          <a:p>
            <a:pPr algn="ctr">
              <a:lnSpc>
                <a:spcPts val="5460"/>
              </a:lnSpc>
            </a:pPr>
            <a:r>
              <a:rPr lang="en-US" sz="3900" b="1">
                <a:solidFill>
                  <a:srgbClr val="344E41"/>
                </a:solidFill>
                <a:latin typeface="Canva Sans Bold" panose="020B0803030501040103"/>
                <a:ea typeface="Canva Sans Bold" panose="020B0803030501040103"/>
                <a:cs typeface="Canva Sans Bold" panose="020B0803030501040103"/>
                <a:sym typeface="Canva Sans Bold" panose="020B0803030501040103"/>
              </a:rPr>
              <a:t>TYPE OF BUSINESS</a:t>
            </a:r>
            <a:endParaRPr lang="en-US" sz="39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2" name="TextBox 12"/>
          <p:cNvSpPr txBox="1"/>
          <p:nvPr/>
        </p:nvSpPr>
        <p:spPr>
          <a:xfrm>
            <a:off x="9452907" y="3459409"/>
            <a:ext cx="7130549" cy="1348739"/>
          </a:xfrm>
          <a:prstGeom prst="rect">
            <a:avLst/>
          </a:prstGeom>
        </p:spPr>
        <p:txBody>
          <a:bodyPr lIns="0" tIns="0" rIns="0" bIns="0" rtlCol="0" anchor="t">
            <a:spAutoFit/>
          </a:bodyPr>
          <a:lstStyle/>
          <a:p>
            <a:pPr algn="ctr">
              <a:lnSpc>
                <a:spcPts val="5460"/>
              </a:lnSpc>
            </a:pPr>
            <a:r>
              <a:rPr lang="en-US" sz="3900" b="1">
                <a:solidFill>
                  <a:srgbClr val="344E41"/>
                </a:solidFill>
                <a:latin typeface="Canva Sans Bold" panose="020B0803030501040103"/>
                <a:ea typeface="Canva Sans Bold" panose="020B0803030501040103"/>
                <a:cs typeface="Canva Sans Bold" panose="020B0803030501040103"/>
                <a:sym typeface="Canva Sans Bold" panose="020B0803030501040103"/>
              </a:rPr>
              <a:t>PRODUCTS OR SERVICES OFFERED</a:t>
            </a:r>
            <a:endParaRPr lang="en-US" sz="39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3" name="AutoShape 13"/>
          <p:cNvSpPr/>
          <p:nvPr/>
        </p:nvSpPr>
        <p:spPr>
          <a:xfrm>
            <a:off x="1400175" y="8911209"/>
            <a:ext cx="15337937" cy="0"/>
          </a:xfrm>
          <a:prstGeom prst="line">
            <a:avLst/>
          </a:prstGeom>
          <a:ln w="9525" cap="flat">
            <a:solidFill>
              <a:srgbClr val="804F3B"/>
            </a:solidFill>
            <a:prstDash val="solid"/>
            <a:headEnd type="none" w="sm" len="sm"/>
            <a:tailEnd type="none" w="sm" len="sm"/>
          </a:ln>
        </p:spPr>
      </p:sp>
      <p:sp>
        <p:nvSpPr>
          <p:cNvPr id="14" name="TextBox 14"/>
          <p:cNvSpPr txBox="1"/>
          <p:nvPr/>
        </p:nvSpPr>
        <p:spPr>
          <a:xfrm>
            <a:off x="2475997" y="6190865"/>
            <a:ext cx="5760720" cy="1328420"/>
          </a:xfrm>
          <a:prstGeom prst="rect">
            <a:avLst/>
          </a:prstGeom>
        </p:spPr>
        <p:txBody>
          <a:bodyPr lIns="0" tIns="0" rIns="0" bIns="0" rtlCol="0" anchor="t">
            <a:spAutoFit/>
          </a:bodyPr>
          <a:lstStyle/>
          <a:p>
            <a:pPr marL="0" lvl="0" indent="0" algn="ctr">
              <a:lnSpc>
                <a:spcPts val="5180"/>
              </a:lnSpc>
              <a:spcBef>
                <a:spcPct val="0"/>
              </a:spcBef>
            </a:pPr>
            <a:r>
              <a:rPr lang="en-US" alt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rPr>
              <a:t>Cleaning Supplies Distributor</a:t>
            </a:r>
            <a:endParaRPr lang="en-US" alt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5" name="AutoShape 15"/>
          <p:cNvSpPr/>
          <p:nvPr/>
        </p:nvSpPr>
        <p:spPr>
          <a:xfrm>
            <a:off x="1400175" y="4921340"/>
            <a:ext cx="15337937" cy="0"/>
          </a:xfrm>
          <a:prstGeom prst="line">
            <a:avLst/>
          </a:prstGeom>
          <a:ln w="9525" cap="flat">
            <a:solidFill>
              <a:srgbClr val="804F3B"/>
            </a:solidFill>
            <a:prstDash val="solid"/>
            <a:headEnd type="none" w="sm" len="sm"/>
            <a:tailEnd type="none" w="sm" len="sm"/>
          </a:ln>
        </p:spPr>
      </p:sp>
      <p:sp>
        <p:nvSpPr>
          <p:cNvPr id="16" name="TextBox 16"/>
          <p:cNvSpPr txBox="1"/>
          <p:nvPr/>
        </p:nvSpPr>
        <p:spPr>
          <a:xfrm>
            <a:off x="9452907" y="5304727"/>
            <a:ext cx="6828512" cy="3985260"/>
          </a:xfrm>
          <a:prstGeom prst="rect">
            <a:avLst/>
          </a:prstGeom>
        </p:spPr>
        <p:txBody>
          <a:bodyPr lIns="0" tIns="0" rIns="0" bIns="0" rtlCol="0" anchor="t">
            <a:spAutoFit/>
          </a:bodyPr>
          <a:lstStyle/>
          <a:p>
            <a:pPr marL="798830" lvl="1" indent="-399415" algn="l">
              <a:lnSpc>
                <a:spcPts val="5180"/>
              </a:lnSpc>
              <a:buFont typeface="Arial" panose="020B0604020202020204"/>
              <a:buChar char="•"/>
            </a:pPr>
            <a:r>
              <a:rPr lang="en-US" alt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rPr>
              <a:t>Cleaning Accessories</a:t>
            </a:r>
            <a:endParaRPr lang="en-US" alt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marL="798830" lvl="1" indent="-399415" algn="l">
              <a:lnSpc>
                <a:spcPts val="5180"/>
              </a:lnSpc>
              <a:buFont typeface="Arial" panose="020B0604020202020204"/>
              <a:buChar char="•"/>
            </a:pPr>
            <a:r>
              <a:rPr lang="en-US" alt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rPr>
              <a:t>Hygiene Supplies</a:t>
            </a:r>
            <a:endParaRPr lang="en-US" alt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marL="798830" lvl="1" indent="-399415" algn="l">
              <a:lnSpc>
                <a:spcPts val="5180"/>
              </a:lnSpc>
              <a:buFont typeface="Arial" panose="020B0604020202020204"/>
              <a:buChar char="•"/>
            </a:pPr>
            <a:r>
              <a:rPr lang="en-US" alt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rPr>
              <a:t>Cleaning Tools</a:t>
            </a:r>
            <a:endParaRPr lang="en-US" alt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marL="798830" lvl="1" indent="-399415" algn="l">
              <a:lnSpc>
                <a:spcPts val="5180"/>
              </a:lnSpc>
              <a:buFont typeface="Arial" panose="020B0604020202020204"/>
              <a:buChar char="•"/>
            </a:pPr>
            <a:r>
              <a:rPr lang="en-US" alt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rPr>
              <a:t>Cleaning Chemicals</a:t>
            </a:r>
            <a:endParaRPr lang="en-US" alt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marL="399415" lvl="1" indent="0" algn="l">
              <a:lnSpc>
                <a:spcPts val="5180"/>
              </a:lnSpc>
              <a:buFont typeface="Arial" panose="020B0604020202020204"/>
              <a:buNone/>
            </a:pPr>
            <a:endParaRPr lang="en-US" altLang="en-US" sz="37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marL="0" lvl="0" indent="0" algn="ctr">
              <a:lnSpc>
                <a:spcPts val="5180"/>
              </a:lnSpc>
              <a:spcBef>
                <a:spcPct val="0"/>
              </a:spcBef>
            </a:pPr>
          </a:p>
        </p:txBody>
      </p:sp>
      <p:sp>
        <p:nvSpPr>
          <p:cNvPr id="17" name="Text Box 16"/>
          <p:cNvSpPr txBox="1"/>
          <p:nvPr/>
        </p:nvSpPr>
        <p:spPr>
          <a:xfrm>
            <a:off x="10869930" y="2850515"/>
            <a:ext cx="6096000" cy="368300"/>
          </a:xfrm>
          <a:prstGeom prst="rect">
            <a:avLst/>
          </a:prstGeom>
          <a:noFill/>
        </p:spPr>
        <p:txBody>
          <a:bodyPr wrap="square" rtlCol="0">
            <a:spAutoFit/>
          </a:bodyPr>
          <a:p>
            <a:endParaRPr lang="en-US"/>
          </a:p>
        </p:txBody>
      </p:sp>
      <p:sp>
        <p:nvSpPr>
          <p:cNvPr id="18" name="Text Box 17"/>
          <p:cNvSpPr txBox="1"/>
          <p:nvPr/>
        </p:nvSpPr>
        <p:spPr>
          <a:xfrm>
            <a:off x="228600" y="9410700"/>
            <a:ext cx="3776980" cy="791210"/>
          </a:xfrm>
          <a:prstGeom prst="rect">
            <a:avLst/>
          </a:prstGeom>
          <a:noFill/>
        </p:spPr>
        <p:txBody>
          <a:bodyPr wrap="square" rtlCol="0" anchor="t">
            <a:spAutoFit/>
          </a:bodyPr>
          <a:p>
            <a:pPr algn="l">
              <a:lnSpc>
                <a:spcPts val="5460"/>
              </a:lnSpc>
            </a:pPr>
            <a:r>
              <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CLIENT 2</a:t>
            </a:r>
            <a:endPar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rot="0">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p:cNvSpPr txBox="1"/>
          <p:nvPr/>
        </p:nvSpPr>
        <p:spPr>
          <a:xfrm>
            <a:off x="3047864" y="785495"/>
            <a:ext cx="11767209" cy="1035911"/>
          </a:xfrm>
          <a:prstGeom prst="rect">
            <a:avLst/>
          </a:prstGeom>
        </p:spPr>
        <p:txBody>
          <a:bodyPr lIns="0" tIns="0" rIns="0" bIns="0" rtlCol="0" anchor="t">
            <a:spAutoFit/>
          </a:bodyPr>
          <a:lstStyle/>
          <a:p>
            <a:pPr algn="l">
              <a:lnSpc>
                <a:spcPts val="8525"/>
              </a:lnSpc>
            </a:pPr>
            <a:r>
              <a:rPr lang="en-US" sz="6090" b="1">
                <a:solidFill>
                  <a:srgbClr val="344E41"/>
                </a:solidFill>
                <a:latin typeface="Canva Sans Bold" panose="020B0803030501040103"/>
                <a:ea typeface="Canva Sans Bold" panose="020B0803030501040103"/>
                <a:cs typeface="Canva Sans Bold" panose="020B0803030501040103"/>
                <a:sym typeface="Canva Sans Bold" panose="020B0803030501040103"/>
              </a:rPr>
              <a:t>TARGET USER OR CUSTOMERS</a:t>
            </a:r>
            <a:endParaRPr lang="en-US" sz="609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6" name="TextBox 6"/>
          <p:cNvSpPr txBox="1"/>
          <p:nvPr/>
        </p:nvSpPr>
        <p:spPr>
          <a:xfrm>
            <a:off x="685800" y="4000500"/>
            <a:ext cx="7555230" cy="3951605"/>
          </a:xfrm>
          <a:prstGeom prst="rect">
            <a:avLst/>
          </a:prstGeom>
        </p:spPr>
        <p:txBody>
          <a:bodyPr wrap="square" lIns="0" tIns="0" rIns="0" bIns="0" rtlCol="0" anchor="t">
            <a:noAutofit/>
          </a:bodyPr>
          <a:lstStyle/>
          <a:p>
            <a:pPr marL="1012825" lvl="1" indent="-506095" algn="l">
              <a:lnSpc>
                <a:spcPct val="100000"/>
              </a:lnSpc>
              <a:buFont typeface="Arial" panose="020B0604020202020204"/>
              <a:buChar char="•"/>
            </a:pPr>
            <a:r>
              <a:rPr 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rPr>
              <a:t>Individual land tenants</a:t>
            </a:r>
            <a:endParaRPr 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marL="1012825" lvl="1" indent="-506095" algn="l">
              <a:lnSpc>
                <a:spcPct val="100000"/>
              </a:lnSpc>
              <a:buFont typeface="Arial" panose="020B0604020202020204"/>
              <a:buChar char="•"/>
            </a:pPr>
            <a:r>
              <a:rPr lang="en-PH" alt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rPr>
              <a:t>F</a:t>
            </a:r>
            <a:r>
              <a:rPr 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rPr>
              <a:t>armers</a:t>
            </a:r>
            <a:endParaRPr 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marL="1012825" lvl="1" indent="-506095" algn="l">
              <a:lnSpc>
                <a:spcPct val="100000"/>
              </a:lnSpc>
              <a:buFont typeface="Arial" panose="020B0604020202020204"/>
              <a:buChar char="•"/>
            </a:pPr>
            <a:r>
              <a:rPr 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rPr>
              <a:t>Local individuals or small businesses needing land use</a:t>
            </a:r>
            <a:endParaRPr 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algn="l">
              <a:lnSpc>
                <a:spcPct val="100000"/>
              </a:lnSpc>
            </a:pPr>
            <a:endParaRPr sz="4000"/>
          </a:p>
        </p:txBody>
      </p:sp>
      <p:sp>
        <p:nvSpPr>
          <p:cNvPr id="4" name="Text Box 3"/>
          <p:cNvSpPr txBox="1"/>
          <p:nvPr/>
        </p:nvSpPr>
        <p:spPr>
          <a:xfrm>
            <a:off x="2362200" y="2552700"/>
            <a:ext cx="3602355" cy="791210"/>
          </a:xfrm>
          <a:prstGeom prst="rect">
            <a:avLst/>
          </a:prstGeom>
          <a:noFill/>
        </p:spPr>
        <p:txBody>
          <a:bodyPr wrap="square" rtlCol="0" anchor="t">
            <a:spAutoFit/>
          </a:bodyPr>
          <a:p>
            <a:pPr algn="ctr">
              <a:lnSpc>
                <a:spcPts val="5460"/>
              </a:lnSpc>
            </a:pPr>
            <a:r>
              <a:rPr lang="en-PH" altLang="en-US" sz="3900" b="1">
                <a:solidFill>
                  <a:srgbClr val="344E41"/>
                </a:solidFill>
                <a:latin typeface="Canva Sans Bold" panose="020B0803030501040103"/>
                <a:ea typeface="Canva Sans Bold" panose="020B0803030501040103"/>
                <a:cs typeface="Canva Sans Bold" panose="020B0803030501040103"/>
                <a:sym typeface="Canva Sans Bold" panose="020B0803030501040103"/>
              </a:rPr>
              <a:t>CLIENT 1</a:t>
            </a:r>
            <a:endParaRPr lang="en-PH" altLang="en-US" sz="39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7" name="TextBox 6"/>
          <p:cNvSpPr txBox="1"/>
          <p:nvPr/>
        </p:nvSpPr>
        <p:spPr>
          <a:xfrm>
            <a:off x="8382000" y="4000500"/>
            <a:ext cx="9479915" cy="5702935"/>
          </a:xfrm>
          <a:prstGeom prst="rect">
            <a:avLst/>
          </a:prstGeom>
        </p:spPr>
        <p:txBody>
          <a:bodyPr wrap="square" lIns="0" tIns="0" rIns="0" bIns="0" rtlCol="0" anchor="t">
            <a:noAutofit/>
          </a:bodyPr>
          <a:lstStyle/>
          <a:p>
            <a:pPr marL="1012825" lvl="1" indent="-506095" algn="l">
              <a:lnSpc>
                <a:spcPct val="100000"/>
              </a:lnSpc>
              <a:spcBef>
                <a:spcPts val="0"/>
              </a:spcBef>
              <a:spcAft>
                <a:spcPts val="0"/>
              </a:spcAft>
              <a:buFont typeface="Arial" panose="020B0604020202020204"/>
              <a:buChar char="•"/>
            </a:pPr>
            <a:r>
              <a:rPr lang="en-US" alt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rPr>
              <a:t>Retail Stores / Sari-sari Stores </a:t>
            </a:r>
            <a:endParaRPr lang="en-US" alt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marL="1012825" lvl="1" indent="-506095" algn="l">
              <a:lnSpc>
                <a:spcPct val="100000"/>
              </a:lnSpc>
              <a:spcBef>
                <a:spcPts val="0"/>
              </a:spcBef>
              <a:spcAft>
                <a:spcPts val="0"/>
              </a:spcAft>
              <a:buFont typeface="Arial" panose="020B0604020202020204"/>
              <a:buChar char="•"/>
            </a:pPr>
            <a:r>
              <a:rPr lang="en-US" alt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rPr>
              <a:t>Supermarkets and Grocery Stores</a:t>
            </a:r>
            <a:endParaRPr lang="en-US" alt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marL="1012825" lvl="1" indent="-506095" algn="l">
              <a:lnSpc>
                <a:spcPct val="100000"/>
              </a:lnSpc>
              <a:spcBef>
                <a:spcPts val="0"/>
              </a:spcBef>
              <a:spcAft>
                <a:spcPts val="0"/>
              </a:spcAft>
              <a:buFont typeface="Arial" panose="020B0604020202020204"/>
              <a:buChar char="•"/>
            </a:pPr>
            <a:r>
              <a:rPr lang="en-US" alt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rPr>
              <a:t>Schools and Universities </a:t>
            </a:r>
            <a:endParaRPr lang="en-US" alt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marL="1012825" lvl="1" indent="-506095" algn="l">
              <a:lnSpc>
                <a:spcPct val="100000"/>
              </a:lnSpc>
              <a:spcBef>
                <a:spcPts val="0"/>
              </a:spcBef>
              <a:spcAft>
                <a:spcPts val="0"/>
              </a:spcAft>
              <a:buFont typeface="Arial" panose="020B0604020202020204"/>
              <a:buChar char="•"/>
            </a:pPr>
            <a:r>
              <a:rPr lang="en-US" alt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rPr>
              <a:t>Hospitals and Clinics regularly.</a:t>
            </a:r>
            <a:endParaRPr lang="en-US" alt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marL="1012825" lvl="1" indent="-506095" algn="l">
              <a:lnSpc>
                <a:spcPct val="100000"/>
              </a:lnSpc>
              <a:spcBef>
                <a:spcPts val="0"/>
              </a:spcBef>
              <a:spcAft>
                <a:spcPts val="0"/>
              </a:spcAft>
              <a:buFont typeface="Arial" panose="020B0604020202020204"/>
              <a:buChar char="•"/>
            </a:pPr>
            <a:r>
              <a:rPr lang="en-US" alt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rPr>
              <a:t>Janitorial Service Companies </a:t>
            </a:r>
            <a:endParaRPr lang="en-US" altLang="en-US" sz="4000" b="1" spc="220">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a:p>
            <a:pPr algn="l">
              <a:lnSpc>
                <a:spcPct val="100000"/>
              </a:lnSpc>
              <a:spcBef>
                <a:spcPts val="0"/>
              </a:spcBef>
              <a:spcAft>
                <a:spcPts val="0"/>
              </a:spcAft>
            </a:pPr>
            <a:endParaRPr sz="4000"/>
          </a:p>
        </p:txBody>
      </p:sp>
      <p:sp>
        <p:nvSpPr>
          <p:cNvPr id="8" name="Text Box 7"/>
          <p:cNvSpPr txBox="1"/>
          <p:nvPr/>
        </p:nvSpPr>
        <p:spPr>
          <a:xfrm>
            <a:off x="11430000" y="2552700"/>
            <a:ext cx="3602355" cy="791210"/>
          </a:xfrm>
          <a:prstGeom prst="rect">
            <a:avLst/>
          </a:prstGeom>
          <a:noFill/>
        </p:spPr>
        <p:txBody>
          <a:bodyPr wrap="square" rtlCol="0" anchor="t">
            <a:spAutoFit/>
          </a:bodyPr>
          <a:p>
            <a:pPr algn="ctr">
              <a:lnSpc>
                <a:spcPts val="5460"/>
              </a:lnSpc>
            </a:pPr>
            <a:r>
              <a:rPr lang="en-PH" altLang="en-US" sz="3900" b="1">
                <a:solidFill>
                  <a:srgbClr val="344E41"/>
                </a:solidFill>
                <a:latin typeface="Canva Sans Bold" panose="020B0803030501040103"/>
                <a:ea typeface="Canva Sans Bold" panose="020B0803030501040103"/>
                <a:cs typeface="Canva Sans Bold" panose="020B0803030501040103"/>
                <a:sym typeface="Canva Sans Bold" panose="020B0803030501040103"/>
              </a:rPr>
              <a:t>CLIENT 2</a:t>
            </a:r>
            <a:endParaRPr lang="en-PH" altLang="en-US" sz="39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rot="0">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TextBox 4"/>
          <p:cNvSpPr txBox="1"/>
          <p:nvPr/>
        </p:nvSpPr>
        <p:spPr>
          <a:xfrm>
            <a:off x="14091936" y="9510857"/>
            <a:ext cx="3167364" cy="430530"/>
          </a:xfrm>
          <a:prstGeom prst="rect">
            <a:avLst/>
          </a:prstGeom>
        </p:spPr>
        <p:txBody>
          <a:bodyPr lIns="0" tIns="0" rIns="0" bIns="0" rtlCol="0" anchor="t">
            <a:spAutoFit/>
          </a:bodyPr>
          <a:lstStyle/>
          <a:p>
            <a:pPr algn="r">
              <a:lnSpc>
                <a:spcPts val="3360"/>
              </a:lnSpc>
            </a:pPr>
            <a:endParaRPr lang="en-US" sz="2400">
              <a:solidFill>
                <a:srgbClr val="344E41"/>
              </a:solidFill>
              <a:latin typeface="Raleway" panose="020B0503030101060003"/>
              <a:ea typeface="Raleway" panose="020B0503030101060003"/>
              <a:cs typeface="Raleway" panose="020B0503030101060003"/>
              <a:sym typeface="Raleway" panose="020B0503030101060003"/>
            </a:endParaRPr>
          </a:p>
        </p:txBody>
      </p:sp>
      <p:sp>
        <p:nvSpPr>
          <p:cNvPr id="5" name="TextBox 5"/>
          <p:cNvSpPr txBox="1"/>
          <p:nvPr/>
        </p:nvSpPr>
        <p:spPr>
          <a:xfrm>
            <a:off x="4419373" y="342900"/>
            <a:ext cx="8758921" cy="1193983"/>
          </a:xfrm>
          <a:prstGeom prst="rect">
            <a:avLst/>
          </a:prstGeom>
        </p:spPr>
        <p:txBody>
          <a:bodyPr lIns="0" tIns="0" rIns="0" bIns="0" rtlCol="0" anchor="t">
            <a:spAutoFit/>
          </a:bodyPr>
          <a:lstStyle/>
          <a:p>
            <a:pPr algn="l">
              <a:lnSpc>
                <a:spcPts val="9755"/>
              </a:lnSpc>
            </a:pPr>
            <a:r>
              <a:rPr lang="en-US" sz="6970" b="1">
                <a:solidFill>
                  <a:srgbClr val="344E41"/>
                </a:solidFill>
                <a:latin typeface="Raleway Bold" panose="020B0803030101060003"/>
                <a:ea typeface="Raleway Bold" panose="020B0803030101060003"/>
                <a:cs typeface="Raleway Bold" panose="020B0803030101060003"/>
                <a:sym typeface="Raleway Bold" panose="020B0803030101060003"/>
              </a:rPr>
              <a:t>EMPATHY ANALYSIS</a:t>
            </a:r>
            <a:endParaRPr lang="en-US" sz="697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9" name="AutoShape 6"/>
          <p:cNvSpPr/>
          <p:nvPr>
            <p:custDataLst>
              <p:tags r:id="rId1"/>
            </p:custDataLst>
          </p:nvPr>
        </p:nvSpPr>
        <p:spPr>
          <a:xfrm>
            <a:off x="1331595" y="4153162"/>
            <a:ext cx="15337937" cy="0"/>
          </a:xfrm>
          <a:prstGeom prst="line">
            <a:avLst/>
          </a:prstGeom>
          <a:ln w="9525" cap="flat">
            <a:solidFill>
              <a:srgbClr val="804F3B"/>
            </a:solidFill>
            <a:prstDash val="solid"/>
            <a:headEnd type="none" w="sm" len="sm"/>
            <a:tailEnd type="none" w="sm" len="sm"/>
          </a:ln>
        </p:spPr>
      </p:sp>
      <p:sp>
        <p:nvSpPr>
          <p:cNvPr id="16" name="AutoShape 13"/>
          <p:cNvSpPr/>
          <p:nvPr>
            <p:custDataLst>
              <p:tags r:id="rId2"/>
            </p:custDataLst>
          </p:nvPr>
        </p:nvSpPr>
        <p:spPr>
          <a:xfrm>
            <a:off x="1329690" y="6410643"/>
            <a:ext cx="15337937" cy="0"/>
          </a:xfrm>
          <a:prstGeom prst="line">
            <a:avLst/>
          </a:prstGeom>
          <a:ln w="9525" cap="flat">
            <a:solidFill>
              <a:srgbClr val="804F3B"/>
            </a:solidFill>
            <a:prstDash val="solid"/>
            <a:headEnd type="none" w="sm" len="sm"/>
            <a:tailEnd type="none" w="sm" len="sm"/>
          </a:ln>
        </p:spPr>
      </p:sp>
      <p:sp>
        <p:nvSpPr>
          <p:cNvPr id="17" name="AutoShape 14"/>
          <p:cNvSpPr/>
          <p:nvPr>
            <p:custDataLst>
              <p:tags r:id="rId3"/>
            </p:custDataLst>
          </p:nvPr>
        </p:nvSpPr>
        <p:spPr>
          <a:xfrm>
            <a:off x="1362075" y="8915971"/>
            <a:ext cx="15337937" cy="0"/>
          </a:xfrm>
          <a:prstGeom prst="line">
            <a:avLst/>
          </a:prstGeom>
          <a:ln w="9525" cap="flat">
            <a:solidFill>
              <a:srgbClr val="804F3B"/>
            </a:solidFill>
            <a:prstDash val="solid"/>
            <a:headEnd type="none" w="sm" len="sm"/>
            <a:tailEnd type="none" w="sm" len="sm"/>
          </a:ln>
        </p:spPr>
      </p:sp>
      <p:sp>
        <p:nvSpPr>
          <p:cNvPr id="19" name="AutoShape 16"/>
          <p:cNvSpPr/>
          <p:nvPr>
            <p:custDataLst>
              <p:tags r:id="rId4"/>
            </p:custDataLst>
          </p:nvPr>
        </p:nvSpPr>
        <p:spPr>
          <a:xfrm>
            <a:off x="1329690" y="1838062"/>
            <a:ext cx="15337937" cy="0"/>
          </a:xfrm>
          <a:prstGeom prst="line">
            <a:avLst/>
          </a:prstGeom>
          <a:ln w="9525" cap="flat">
            <a:solidFill>
              <a:srgbClr val="804F3B"/>
            </a:solidFill>
            <a:prstDash val="solid"/>
            <a:headEnd type="none" w="sm" len="sm"/>
            <a:tailEnd type="none" w="sm" len="sm"/>
          </a:ln>
        </p:spPr>
      </p:sp>
      <p:sp>
        <p:nvSpPr>
          <p:cNvPr id="22" name="AutoShape 19"/>
          <p:cNvSpPr/>
          <p:nvPr>
            <p:custDataLst>
              <p:tags r:id="rId5"/>
            </p:custDataLst>
          </p:nvPr>
        </p:nvSpPr>
        <p:spPr>
          <a:xfrm>
            <a:off x="1331595" y="1815465"/>
            <a:ext cx="25400" cy="7105015"/>
          </a:xfrm>
          <a:prstGeom prst="line">
            <a:avLst/>
          </a:prstGeom>
          <a:ln w="9525" cap="flat">
            <a:solidFill>
              <a:srgbClr val="804F3B"/>
            </a:solidFill>
            <a:prstDash val="solid"/>
            <a:headEnd type="none" w="sm" len="sm"/>
            <a:tailEnd type="none" w="sm" len="sm"/>
          </a:ln>
        </p:spPr>
      </p:sp>
      <p:sp>
        <p:nvSpPr>
          <p:cNvPr id="35" name="Text Box 34"/>
          <p:cNvSpPr txBox="1"/>
          <p:nvPr/>
        </p:nvSpPr>
        <p:spPr>
          <a:xfrm>
            <a:off x="2743200" y="3009900"/>
            <a:ext cx="1863725" cy="922020"/>
          </a:xfrm>
          <a:prstGeom prst="rect">
            <a:avLst/>
          </a:prstGeom>
          <a:noFill/>
        </p:spPr>
        <p:txBody>
          <a:bodyPr wrap="square" rtlCol="0">
            <a:spAutoFit/>
          </a:bodyPr>
          <a:p>
            <a:endParaRPr lang="en-US" altLang="en-US" sz="5400" b="1">
              <a:solidFill>
                <a:schemeClr val="tx1">
                  <a:lumMod val="65000"/>
                  <a:lumOff val="35000"/>
                </a:schemeClr>
              </a:solidFill>
            </a:endParaRPr>
          </a:p>
        </p:txBody>
      </p:sp>
      <p:sp>
        <p:nvSpPr>
          <p:cNvPr id="36" name="Text Box 35"/>
          <p:cNvSpPr txBox="1"/>
          <p:nvPr/>
        </p:nvSpPr>
        <p:spPr>
          <a:xfrm>
            <a:off x="3389630" y="1569720"/>
            <a:ext cx="6096000" cy="368300"/>
          </a:xfrm>
          <a:prstGeom prst="rect">
            <a:avLst/>
          </a:prstGeom>
          <a:noFill/>
        </p:spPr>
        <p:txBody>
          <a:bodyPr wrap="square" rtlCol="0">
            <a:spAutoFit/>
          </a:bodyPr>
          <a:p>
            <a:endParaRPr lang="en-US"/>
          </a:p>
        </p:txBody>
      </p:sp>
      <p:sp>
        <p:nvSpPr>
          <p:cNvPr id="37" name="Text Box 36"/>
          <p:cNvSpPr txBox="1"/>
          <p:nvPr>
            <p:custDataLst>
              <p:tags r:id="rId6"/>
            </p:custDataLst>
          </p:nvPr>
        </p:nvSpPr>
        <p:spPr>
          <a:xfrm>
            <a:off x="2438400" y="2628900"/>
            <a:ext cx="1884680" cy="812800"/>
          </a:xfrm>
          <a:prstGeom prst="rect">
            <a:avLst/>
          </a:prstGeom>
          <a:noFill/>
        </p:spPr>
        <p:txBody>
          <a:bodyPr wrap="square" rtlCol="0" anchor="t">
            <a:spAutoFit/>
          </a:bodyPr>
          <a:p>
            <a:r>
              <a:rPr lang="en-PH" altLang="en-US" sz="4690" b="1" spc="220">
                <a:solidFill>
                  <a:srgbClr val="344E41"/>
                </a:solidFill>
                <a:latin typeface="Canva Sans Bold" panose="020B0803030501040103"/>
                <a:ea typeface="Canva Sans Bold" panose="020B0803030501040103"/>
                <a:cs typeface="Canva Sans Bold" panose="020B0803030501040103"/>
                <a:sym typeface="Canva Sans Bold" panose="020B0803030501040103"/>
              </a:rPr>
              <a:t>SAYS</a:t>
            </a:r>
            <a:endParaRPr lang="en-PH" altLang="en-US" sz="4690" b="1" spc="220">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38" name="Text Box 37"/>
          <p:cNvSpPr txBox="1"/>
          <p:nvPr>
            <p:custDataLst>
              <p:tags r:id="rId7"/>
            </p:custDataLst>
          </p:nvPr>
        </p:nvSpPr>
        <p:spPr>
          <a:xfrm>
            <a:off x="2057400" y="7200900"/>
            <a:ext cx="2663190" cy="812800"/>
          </a:xfrm>
          <a:prstGeom prst="rect">
            <a:avLst/>
          </a:prstGeom>
          <a:noFill/>
        </p:spPr>
        <p:txBody>
          <a:bodyPr wrap="square" rtlCol="0" anchor="t">
            <a:spAutoFit/>
          </a:bodyPr>
          <a:p>
            <a:r>
              <a:rPr lang="en-PH" altLang="en-US" sz="4690" b="1" spc="220">
                <a:solidFill>
                  <a:srgbClr val="344E41"/>
                </a:solidFill>
                <a:latin typeface="Canva Sans Bold" panose="020B0803030501040103"/>
                <a:ea typeface="Canva Sans Bold" panose="020B0803030501040103"/>
                <a:cs typeface="Canva Sans Bold" panose="020B0803030501040103"/>
                <a:sym typeface="Canva Sans Bold" panose="020B0803030501040103"/>
              </a:rPr>
              <a:t>THINKS</a:t>
            </a:r>
            <a:endParaRPr lang="en-PH" altLang="en-US" sz="4690" b="1" spc="220">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39" name="Text Box 38"/>
          <p:cNvSpPr txBox="1"/>
          <p:nvPr>
            <p:custDataLst>
              <p:tags r:id="rId8"/>
            </p:custDataLst>
          </p:nvPr>
        </p:nvSpPr>
        <p:spPr>
          <a:xfrm>
            <a:off x="2152650" y="4875530"/>
            <a:ext cx="2450465" cy="812800"/>
          </a:xfrm>
          <a:prstGeom prst="rect">
            <a:avLst/>
          </a:prstGeom>
          <a:noFill/>
        </p:spPr>
        <p:txBody>
          <a:bodyPr wrap="square" rtlCol="0" anchor="t">
            <a:spAutoFit/>
          </a:bodyPr>
          <a:p>
            <a:r>
              <a:rPr lang="en-PH" altLang="en-US" sz="4690" b="1" spc="220">
                <a:solidFill>
                  <a:srgbClr val="344E41"/>
                </a:solidFill>
                <a:latin typeface="Canva Sans Bold" panose="020B0803030501040103"/>
                <a:ea typeface="Canva Sans Bold" panose="020B0803030501040103"/>
                <a:cs typeface="Canva Sans Bold" panose="020B0803030501040103"/>
                <a:sym typeface="Canva Sans Bold" panose="020B0803030501040103"/>
              </a:rPr>
              <a:t>HEARS</a:t>
            </a:r>
            <a:endParaRPr lang="en-PH" altLang="en-US" sz="4690" b="1" spc="220">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41" name="Text Box 40"/>
          <p:cNvSpPr txBox="1"/>
          <p:nvPr/>
        </p:nvSpPr>
        <p:spPr>
          <a:xfrm>
            <a:off x="12966700" y="4846320"/>
            <a:ext cx="6096000" cy="368300"/>
          </a:xfrm>
          <a:prstGeom prst="rect">
            <a:avLst/>
          </a:prstGeom>
          <a:noFill/>
        </p:spPr>
        <p:txBody>
          <a:bodyPr wrap="square" rtlCol="0">
            <a:spAutoFit/>
          </a:bodyPr>
          <a:p>
            <a:endParaRPr lang="en-US"/>
          </a:p>
        </p:txBody>
      </p:sp>
      <p:sp>
        <p:nvSpPr>
          <p:cNvPr id="42" name="Text Box 41"/>
          <p:cNvSpPr txBox="1"/>
          <p:nvPr>
            <p:custDataLst>
              <p:tags r:id="rId9"/>
            </p:custDataLst>
          </p:nvPr>
        </p:nvSpPr>
        <p:spPr>
          <a:xfrm>
            <a:off x="5638800" y="2044065"/>
            <a:ext cx="10953115" cy="2091690"/>
          </a:xfrm>
          <a:prstGeom prst="rect">
            <a:avLst/>
          </a:prstGeom>
          <a:noFill/>
        </p:spPr>
        <p:txBody>
          <a:bodyPr wrap="square" rtlCol="0" anchor="t">
            <a:spAutoFit/>
          </a:bodyPr>
          <a:p>
            <a:pPr marL="457200" indent="-457200" algn="l">
              <a:lnSpc>
                <a:spcPct val="100000"/>
              </a:lnSpc>
              <a:buFont typeface="Arial" panose="020B0604020202020204" pitchFamily="34" charset="0"/>
              <a:buChar char="•"/>
            </a:pPr>
            <a:r>
              <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rPr>
              <a:t>I write everything in a notebook.</a:t>
            </a:r>
            <a:endPar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endParaRPr>
          </a:p>
          <a:p>
            <a:pPr marL="457200" indent="-457200" algn="l">
              <a:lnSpc>
                <a:spcPct val="100000"/>
              </a:lnSpc>
              <a:buFont typeface="Arial" panose="020B0604020202020204" pitchFamily="34" charset="0"/>
              <a:buChar char="•"/>
            </a:pPr>
            <a:r>
              <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rPr>
              <a:t>I sometimes forget payment schedules and land availability.</a:t>
            </a:r>
            <a:endPar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endParaRPr>
          </a:p>
          <a:p>
            <a:pPr marL="457200" indent="-457200" algn="l">
              <a:lnSpc>
                <a:spcPct val="100000"/>
              </a:lnSpc>
              <a:buFont typeface="Arial" panose="020B0604020202020204" pitchFamily="34" charset="0"/>
              <a:buChar char="•"/>
            </a:pPr>
            <a:r>
              <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rPr>
              <a:t>I sometimes run out of fast-selling items unexpectedly.</a:t>
            </a:r>
            <a:endPar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endParaRPr>
          </a:p>
          <a:p>
            <a:pPr marL="457200" indent="-457200" algn="l">
              <a:lnSpc>
                <a:spcPct val="100000"/>
              </a:lnSpc>
              <a:buFont typeface="Arial" panose="020B0604020202020204" pitchFamily="34" charset="0"/>
              <a:buChar char="•"/>
            </a:pPr>
            <a:r>
              <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rPr>
              <a:t>I sometimes run out of fast-selling items unexpectedly.</a:t>
            </a:r>
            <a:endPar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endParaRPr>
          </a:p>
          <a:p>
            <a:pPr indent="0" algn="l">
              <a:lnSpc>
                <a:spcPct val="100000"/>
              </a:lnSpc>
              <a:buFont typeface="Arial" panose="020B0604020202020204" pitchFamily="34" charset="0"/>
              <a:buNone/>
            </a:pPr>
            <a:endPar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endParaRPr>
          </a:p>
        </p:txBody>
      </p:sp>
      <p:sp>
        <p:nvSpPr>
          <p:cNvPr id="43" name="AutoShape 19"/>
          <p:cNvSpPr/>
          <p:nvPr>
            <p:custDataLst>
              <p:tags r:id="rId10"/>
            </p:custDataLst>
          </p:nvPr>
        </p:nvSpPr>
        <p:spPr>
          <a:xfrm>
            <a:off x="5308600" y="1845310"/>
            <a:ext cx="25400" cy="7105015"/>
          </a:xfrm>
          <a:prstGeom prst="line">
            <a:avLst/>
          </a:prstGeom>
          <a:ln w="9525" cap="flat">
            <a:solidFill>
              <a:srgbClr val="804F3B"/>
            </a:solidFill>
            <a:prstDash val="solid"/>
            <a:headEnd type="none" w="sm" len="sm"/>
            <a:tailEnd type="none" w="sm" len="sm"/>
          </a:ln>
        </p:spPr>
      </p:sp>
      <p:sp>
        <p:nvSpPr>
          <p:cNvPr id="44" name="AutoShape 19"/>
          <p:cNvSpPr/>
          <p:nvPr>
            <p:custDataLst>
              <p:tags r:id="rId11"/>
            </p:custDataLst>
          </p:nvPr>
        </p:nvSpPr>
        <p:spPr>
          <a:xfrm>
            <a:off x="16667480" y="1838325"/>
            <a:ext cx="25400" cy="7105015"/>
          </a:xfrm>
          <a:prstGeom prst="line">
            <a:avLst/>
          </a:prstGeom>
          <a:ln w="9525" cap="flat">
            <a:solidFill>
              <a:srgbClr val="804F3B"/>
            </a:solidFill>
            <a:prstDash val="solid"/>
            <a:headEnd type="none" w="sm" len="sm"/>
            <a:tailEnd type="none" w="sm" len="sm"/>
          </a:ln>
        </p:spPr>
      </p:sp>
      <p:sp>
        <p:nvSpPr>
          <p:cNvPr id="45" name="Text Box 44"/>
          <p:cNvSpPr txBox="1"/>
          <p:nvPr>
            <p:custDataLst>
              <p:tags r:id="rId12"/>
            </p:custDataLst>
          </p:nvPr>
        </p:nvSpPr>
        <p:spPr>
          <a:xfrm>
            <a:off x="5638800" y="4457700"/>
            <a:ext cx="10953115" cy="2091690"/>
          </a:xfrm>
          <a:prstGeom prst="rect">
            <a:avLst/>
          </a:prstGeom>
          <a:noFill/>
        </p:spPr>
        <p:txBody>
          <a:bodyPr wrap="square" rtlCol="0" anchor="t">
            <a:spAutoFit/>
          </a:bodyPr>
          <a:p>
            <a:pPr marL="457200" indent="-457200" algn="l">
              <a:lnSpc>
                <a:spcPct val="100000"/>
              </a:lnSpc>
              <a:buFont typeface="Arial" panose="020B0604020202020204" pitchFamily="34" charset="0"/>
              <a:buChar char="•"/>
            </a:pPr>
            <a:r>
              <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rPr>
              <a:t>Tenants asking about land availability</a:t>
            </a:r>
            <a:endPar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endParaRPr>
          </a:p>
          <a:p>
            <a:pPr marL="457200" indent="-457200" algn="l">
              <a:lnSpc>
                <a:spcPct val="100000"/>
              </a:lnSpc>
              <a:buFont typeface="Arial" panose="020B0604020202020204" pitchFamily="34" charset="0"/>
              <a:buChar char="•"/>
            </a:pPr>
            <a:r>
              <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rPr>
              <a:t>Tenants questioning payment dates and rental details</a:t>
            </a:r>
            <a:endPar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endParaRPr>
          </a:p>
          <a:p>
            <a:pPr marL="457200" indent="-457200" algn="l">
              <a:lnSpc>
                <a:spcPct val="100000"/>
              </a:lnSpc>
              <a:buFont typeface="Arial" panose="020B0604020202020204" pitchFamily="34" charset="0"/>
              <a:buChar char="•"/>
            </a:pPr>
            <a:r>
              <a:rPr lang="en-US" altLang="en-US" sz="2600">
                <a:solidFill>
                  <a:srgbClr val="344E41"/>
                </a:solidFill>
                <a:latin typeface="Canva Sans" panose="020B0503030501040103"/>
                <a:ea typeface="Canva Sans" panose="020B0503030501040103"/>
                <a:cs typeface="Canva Sans" panose="020B0503030501040103"/>
                <a:sym typeface="Canva Sans" panose="020B0503030501040103"/>
              </a:rPr>
              <a:t>Customers complaining about out-of-stock products.</a:t>
            </a:r>
            <a:endParaRPr lang="en-US" altLang="en-US" sz="2600">
              <a:solidFill>
                <a:srgbClr val="344E41"/>
              </a:solidFill>
              <a:latin typeface="Canva Sans" panose="020B0503030501040103"/>
              <a:ea typeface="Canva Sans" panose="020B0503030501040103"/>
              <a:cs typeface="Canva Sans" panose="020B0503030501040103"/>
              <a:sym typeface="Canva Sans" panose="020B0503030501040103"/>
            </a:endParaRPr>
          </a:p>
          <a:p>
            <a:pPr marL="457200" indent="-457200" algn="l">
              <a:lnSpc>
                <a:spcPct val="100000"/>
              </a:lnSpc>
              <a:buFont typeface="Arial" panose="020B0604020202020204" pitchFamily="34" charset="0"/>
              <a:buChar char="•"/>
            </a:pPr>
            <a:r>
              <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rPr>
              <a:t>Customers asking if items are available.</a:t>
            </a:r>
            <a:endPar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endParaRPr>
          </a:p>
          <a:p>
            <a:pPr marL="457200" indent="-457200" algn="l">
              <a:lnSpc>
                <a:spcPct val="100000"/>
              </a:lnSpc>
              <a:buFont typeface="Arial" panose="020B0604020202020204" pitchFamily="34" charset="0"/>
              <a:buChar char="•"/>
            </a:pPr>
            <a:endPar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endParaRPr>
          </a:p>
        </p:txBody>
      </p:sp>
      <p:sp>
        <p:nvSpPr>
          <p:cNvPr id="46" name="Text Box 45"/>
          <p:cNvSpPr txBox="1"/>
          <p:nvPr>
            <p:custDataLst>
              <p:tags r:id="rId13"/>
            </p:custDataLst>
          </p:nvPr>
        </p:nvSpPr>
        <p:spPr>
          <a:xfrm>
            <a:off x="5638800" y="6743065"/>
            <a:ext cx="10953115" cy="1691640"/>
          </a:xfrm>
          <a:prstGeom prst="rect">
            <a:avLst/>
          </a:prstGeom>
          <a:noFill/>
        </p:spPr>
        <p:txBody>
          <a:bodyPr wrap="square" rtlCol="0" anchor="t">
            <a:spAutoFit/>
          </a:bodyPr>
          <a:p>
            <a:pPr marL="457200" indent="-457200" algn="l">
              <a:lnSpc>
                <a:spcPct val="100000"/>
              </a:lnSpc>
              <a:buFont typeface="Arial" panose="020B0604020202020204" pitchFamily="34" charset="0"/>
              <a:buChar char="•"/>
            </a:pPr>
            <a:r>
              <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rPr>
              <a:t>I might forget important records.</a:t>
            </a:r>
            <a:endPar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endParaRPr>
          </a:p>
          <a:p>
            <a:pPr marL="457200" indent="-457200" algn="l">
              <a:lnSpc>
                <a:spcPct val="100000"/>
              </a:lnSpc>
              <a:buFont typeface="Arial" panose="020B0604020202020204" pitchFamily="34" charset="0"/>
              <a:buChar char="•"/>
            </a:pPr>
            <a:r>
              <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rPr>
              <a:t>Manual recording causes mistakes.</a:t>
            </a:r>
            <a:endPar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endParaRPr>
          </a:p>
          <a:p>
            <a:pPr marL="457200" indent="-457200" algn="l">
              <a:lnSpc>
                <a:spcPct val="100000"/>
              </a:lnSpc>
              <a:buFont typeface="Arial" panose="020B0604020202020204" pitchFamily="34" charset="0"/>
              <a:buChar char="•"/>
            </a:pPr>
            <a:r>
              <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rPr>
              <a:t>I need a faster and more accurate system.</a:t>
            </a:r>
            <a:endPar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endParaRPr>
          </a:p>
          <a:p>
            <a:pPr marL="457200" indent="-457200" algn="l">
              <a:lnSpc>
                <a:spcPct val="100000"/>
              </a:lnSpc>
              <a:buFont typeface="Arial" panose="020B0604020202020204" pitchFamily="34" charset="0"/>
              <a:buChar char="•"/>
            </a:pPr>
            <a:r>
              <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rPr>
              <a:t>A better system can save time and improve customer service.</a:t>
            </a:r>
            <a:endParaRPr lang="en-US" altLang="en-US" sz="2600" b="1">
              <a:solidFill>
                <a:srgbClr val="344E41"/>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12" name="Group 12"/>
          <p:cNvGrpSpPr/>
          <p:nvPr/>
        </p:nvGrpSpPr>
        <p:grpSpPr>
          <a:xfrm rot="0">
            <a:off x="0" y="9258300"/>
            <a:ext cx="18288000" cy="1028700"/>
            <a:chOff x="0" y="0"/>
            <a:chExt cx="12372622" cy="695960"/>
          </a:xfrm>
        </p:grpSpPr>
        <p:sp>
          <p:nvSpPr>
            <p:cNvPr id="13" name="Freeform 1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2" name="Text Box 1"/>
          <p:cNvSpPr txBox="1"/>
          <p:nvPr/>
        </p:nvSpPr>
        <p:spPr>
          <a:xfrm>
            <a:off x="1447800" y="-266700"/>
            <a:ext cx="14990445" cy="2872105"/>
          </a:xfrm>
          <a:prstGeom prst="rect">
            <a:avLst/>
          </a:prstGeom>
          <a:noFill/>
        </p:spPr>
        <p:txBody>
          <a:bodyPr wrap="square" rtlCol="0" anchor="t">
            <a:noAutofit/>
          </a:bodyPr>
          <a:p>
            <a:pPr algn="ctr">
              <a:lnSpc>
                <a:spcPts val="8400"/>
              </a:lnSpc>
            </a:pPr>
            <a:endParaRPr lang="en-PH"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a:p>
            <a:pPr algn="ctr">
              <a:lnSpc>
                <a:spcPts val="8400"/>
              </a:lnSpc>
            </a:pPr>
            <a:r>
              <a:rPr lang="en-PH" altLang="en-US" sz="5400" b="1">
                <a:solidFill>
                  <a:srgbClr val="344E41"/>
                </a:solidFill>
                <a:latin typeface="Raleway Bold" panose="020B0803030101060003"/>
                <a:ea typeface="Raleway Bold" panose="020B0803030101060003"/>
                <a:cs typeface="Raleway Bold" panose="020B0803030101060003"/>
                <a:sym typeface="Raleway Bold" panose="020B0803030101060003"/>
              </a:rPr>
              <a:t>MANUAL RECORDINNG AND NO REAL-TIME LAND STATUS TRACKING</a:t>
            </a:r>
            <a:endParaRPr lang="en-PH"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a:p>
            <a:pPr algn="l">
              <a:lnSpc>
                <a:spcPts val="8400"/>
              </a:lnSpc>
            </a:pPr>
            <a:r>
              <a:rPr lang="en-PH" altLang="en-US" sz="5400" b="1">
                <a:solidFill>
                  <a:srgbClr val="344E41"/>
                </a:solidFill>
                <a:latin typeface="Raleway Bold" panose="020B0803030101060003"/>
                <a:ea typeface="Raleway Bold" panose="020B0803030101060003"/>
                <a:cs typeface="Raleway Bold" panose="020B0803030101060003"/>
                <a:sym typeface="Raleway Bold" panose="020B0803030101060003"/>
              </a:rPr>
              <a:t> </a:t>
            </a:r>
            <a:endParaRPr lang="en-PH"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a:p>
            <a:pPr algn="l">
              <a:lnSpc>
                <a:spcPts val="8400"/>
              </a:lnSpc>
            </a:pPr>
            <a:endParaRPr lang="en-PH"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3" name="Text Box 2"/>
          <p:cNvSpPr txBox="1"/>
          <p:nvPr/>
        </p:nvSpPr>
        <p:spPr>
          <a:xfrm>
            <a:off x="1489710" y="3619500"/>
            <a:ext cx="15359380" cy="4154170"/>
          </a:xfrm>
          <a:prstGeom prst="rect">
            <a:avLst/>
          </a:prstGeom>
          <a:noFill/>
        </p:spPr>
        <p:txBody>
          <a:bodyPr wrap="square" rtlCol="0" anchor="t">
            <a:spAutoFit/>
          </a:bodyPr>
          <a:p>
            <a:pPr marL="457200" indent="-457200" algn="l">
              <a:lnSpc>
                <a:spcPct val="100000"/>
              </a:lnSpc>
              <a:buFont typeface="Arial" panose="020B0604020202020204" pitchFamily="34" charset="0"/>
              <a:buChar char="•"/>
            </a:pPr>
            <a:r>
              <a:rPr lang="en-US" altLang="en-US" sz="4400" b="1">
                <a:solidFill>
                  <a:srgbClr val="344E41"/>
                </a:solidFill>
                <a:latin typeface="Canva Sans" panose="020B0503030501040103"/>
                <a:ea typeface="Canva Sans" panose="020B0503030501040103"/>
                <a:cs typeface="Canva Sans" panose="020B0503030501040103"/>
                <a:sym typeface="Canva Sans" panose="020B0503030501040103"/>
              </a:rPr>
              <a:t>The current land rental business relies on manual recording using notebooks and paper documents. This method causes incomplete records, overlapping rentals, and slow customer service. Managing land availability and tenant information manually increases the risk of errors and lost data.</a:t>
            </a:r>
            <a:endParaRPr lang="en-US" altLang="en-US" sz="4400" b="1">
              <a:solidFill>
                <a:srgbClr val="344E41"/>
              </a:solidFill>
              <a:latin typeface="Canva Sans" panose="020B0503030501040103"/>
              <a:ea typeface="Canva Sans" panose="020B0503030501040103"/>
              <a:cs typeface="Canva Sans" panose="020B0503030501040103"/>
              <a:sym typeface="Canva Sans" panose="020B0503030501040103"/>
            </a:endParaRPr>
          </a:p>
        </p:txBody>
      </p:sp>
      <p:sp>
        <p:nvSpPr>
          <p:cNvPr id="5" name="Text Box 4"/>
          <p:cNvSpPr txBox="1"/>
          <p:nvPr/>
        </p:nvSpPr>
        <p:spPr>
          <a:xfrm>
            <a:off x="76200" y="9334500"/>
            <a:ext cx="4209415" cy="791210"/>
          </a:xfrm>
          <a:prstGeom prst="rect">
            <a:avLst/>
          </a:prstGeom>
          <a:noFill/>
        </p:spPr>
        <p:txBody>
          <a:bodyPr wrap="square" rtlCol="0" anchor="t">
            <a:spAutoFit/>
          </a:bodyPr>
          <a:p>
            <a:pPr algn="l">
              <a:lnSpc>
                <a:spcPts val="5460"/>
              </a:lnSpc>
            </a:pPr>
            <a:r>
              <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PROBLEM</a:t>
            </a:r>
            <a:r>
              <a:rPr lang="en-US" altLang="en-PH"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1</a:t>
            </a:r>
            <a:endParaRPr lang="en-US" altLang="en-PH" sz="40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12" name="Group 12"/>
          <p:cNvGrpSpPr/>
          <p:nvPr/>
        </p:nvGrpSpPr>
        <p:grpSpPr>
          <a:xfrm rot="0">
            <a:off x="0" y="9258300"/>
            <a:ext cx="18288000" cy="1028700"/>
            <a:chOff x="0" y="0"/>
            <a:chExt cx="12372622" cy="695960"/>
          </a:xfrm>
        </p:grpSpPr>
        <p:sp>
          <p:nvSpPr>
            <p:cNvPr id="13" name="Freeform 1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2" name="Text Box 1"/>
          <p:cNvSpPr txBox="1"/>
          <p:nvPr/>
        </p:nvSpPr>
        <p:spPr>
          <a:xfrm>
            <a:off x="1447800" y="-266700"/>
            <a:ext cx="14990445" cy="2872105"/>
          </a:xfrm>
          <a:prstGeom prst="rect">
            <a:avLst/>
          </a:prstGeom>
          <a:noFill/>
        </p:spPr>
        <p:txBody>
          <a:bodyPr wrap="square" rtlCol="0" anchor="t">
            <a:noAutofit/>
          </a:bodyPr>
          <a:p>
            <a:pPr algn="l">
              <a:lnSpc>
                <a:spcPts val="8400"/>
              </a:lnSpc>
            </a:pPr>
            <a:endParaRPr lang="en-PH"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4" name="TextBox 4"/>
          <p:cNvSpPr txBox="1"/>
          <p:nvPr/>
        </p:nvSpPr>
        <p:spPr>
          <a:xfrm>
            <a:off x="1828800" y="876300"/>
            <a:ext cx="13954125" cy="2914650"/>
          </a:xfrm>
          <a:prstGeom prst="rect">
            <a:avLst/>
          </a:prstGeom>
        </p:spPr>
        <p:txBody>
          <a:bodyPr wrap="square" lIns="0" tIns="0" rIns="0" bIns="0" rtlCol="0" anchor="t">
            <a:noAutofit/>
          </a:bodyPr>
          <a:lstStyle/>
          <a:p>
            <a:pPr algn="ctr">
              <a:lnSpc>
                <a:spcPts val="8400"/>
              </a:lnSpc>
            </a:pPr>
            <a:r>
              <a:rPr lang="en-US" altLang="en-US" sz="5400" b="1">
                <a:solidFill>
                  <a:srgbClr val="344E41"/>
                </a:solidFill>
                <a:latin typeface="Raleway Bold" panose="020B0803030101060003"/>
                <a:ea typeface="Raleway Bold" panose="020B0803030101060003"/>
                <a:cs typeface="Raleway Bold" panose="020B0803030101060003"/>
                <a:sym typeface="Raleway Bold" panose="020B0803030101060003"/>
              </a:rPr>
              <a:t>Digital Land and Tenant Management System for Efficient Record-Keeping</a:t>
            </a:r>
            <a:endParaRPr lang="en-US"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21" name="Text Box 20"/>
          <p:cNvSpPr txBox="1"/>
          <p:nvPr/>
        </p:nvSpPr>
        <p:spPr>
          <a:xfrm>
            <a:off x="1203960" y="4076700"/>
            <a:ext cx="15732760" cy="4057015"/>
          </a:xfrm>
          <a:prstGeom prst="rect">
            <a:avLst/>
          </a:prstGeom>
          <a:noFill/>
        </p:spPr>
        <p:txBody>
          <a:bodyPr wrap="square" rtlCol="0" anchor="t">
            <a:noAutofit/>
          </a:bodyPr>
          <a:p>
            <a:pPr marL="457200" indent="-457200" algn="l">
              <a:lnSpc>
                <a:spcPct val="100000"/>
              </a:lnSpc>
              <a:buFont typeface="Arial" panose="020B0604020202020204" pitchFamily="34" charset="0"/>
              <a:buChar char="•"/>
            </a:pPr>
            <a:r>
              <a:rPr lang="en-US"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rPr>
              <a:t>TheDigital </a:t>
            </a:r>
            <a:r>
              <a:rPr lang="en-PH"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rPr>
              <a:t>l</a:t>
            </a:r>
            <a:r>
              <a:rPr lang="en-US"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rPr>
              <a:t>and and Tenant Management </a:t>
            </a:r>
            <a:r>
              <a:rPr lang="en-PH"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rPr>
              <a:t>s</a:t>
            </a:r>
            <a:r>
              <a:rPr lang="en-US"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rPr>
              <a:t>ystem is an</a:t>
            </a:r>
            <a:r>
              <a:rPr lang="en-PH"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rPr>
              <a:t> </a:t>
            </a:r>
            <a:r>
              <a:rPr lang="en-US"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rPr>
              <a:t>solution that automates the recording of land and tenant information, and monitors land availability in real-time. It reduces manual work, prevents data errors, and provides digital reports and analytics to help landowners manage their business efficiently.</a:t>
            </a:r>
            <a:r>
              <a:rPr lang="en-PH"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rPr>
              <a:t> </a:t>
            </a:r>
            <a:endParaRPr lang="en-PH"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12" name="Group 12"/>
          <p:cNvGrpSpPr/>
          <p:nvPr/>
        </p:nvGrpSpPr>
        <p:grpSpPr>
          <a:xfrm rot="0">
            <a:off x="0" y="9258300"/>
            <a:ext cx="18288000" cy="1028700"/>
            <a:chOff x="0" y="0"/>
            <a:chExt cx="12372622" cy="695960"/>
          </a:xfrm>
        </p:grpSpPr>
        <p:sp>
          <p:nvSpPr>
            <p:cNvPr id="13" name="Freeform 1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2" name="Text Box 1"/>
          <p:cNvSpPr txBox="1"/>
          <p:nvPr/>
        </p:nvSpPr>
        <p:spPr>
          <a:xfrm>
            <a:off x="1447800" y="-266700"/>
            <a:ext cx="14990445" cy="2872105"/>
          </a:xfrm>
          <a:prstGeom prst="rect">
            <a:avLst/>
          </a:prstGeom>
          <a:noFill/>
        </p:spPr>
        <p:txBody>
          <a:bodyPr wrap="square" rtlCol="0" anchor="t">
            <a:noAutofit/>
          </a:bodyPr>
          <a:p>
            <a:pPr algn="l">
              <a:lnSpc>
                <a:spcPts val="8400"/>
              </a:lnSpc>
            </a:pPr>
            <a:endParaRPr lang="en-PH"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5" name="TextBox 12"/>
          <p:cNvSpPr txBox="1"/>
          <p:nvPr/>
        </p:nvSpPr>
        <p:spPr>
          <a:xfrm>
            <a:off x="9449097" y="800029"/>
            <a:ext cx="7130549" cy="699770"/>
          </a:xfrm>
          <a:prstGeom prst="rect">
            <a:avLst/>
          </a:prstGeom>
        </p:spPr>
        <p:txBody>
          <a:bodyPr lIns="0" tIns="0" rIns="0" bIns="0" rtlCol="0" anchor="t">
            <a:spAutoFit/>
          </a:bodyPr>
          <a:lstStyle/>
          <a:p>
            <a:pPr algn="ctr">
              <a:lnSpc>
                <a:spcPts val="5460"/>
              </a:lnSpc>
            </a:pPr>
            <a:r>
              <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USER FLOW</a:t>
            </a:r>
            <a:endPar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7" name="Text Box 6"/>
          <p:cNvSpPr txBox="1"/>
          <p:nvPr/>
        </p:nvSpPr>
        <p:spPr>
          <a:xfrm>
            <a:off x="9448800" y="2722245"/>
            <a:ext cx="8412480" cy="6536055"/>
          </a:xfrm>
          <a:prstGeom prst="rect">
            <a:avLst/>
          </a:prstGeom>
          <a:noFill/>
        </p:spPr>
        <p:txBody>
          <a:bodyPr wrap="square" rtlCol="0" anchor="t">
            <a:noAutofit/>
          </a:bodyPr>
          <a:p>
            <a:pPr marL="970915" lvl="1" indent="-571500" algn="l">
              <a:lnSpc>
                <a:spcPts val="5180"/>
              </a:lnSpc>
              <a:buFont typeface="Arial" panose="020B0604020202020204" pitchFamily="34" charset="0"/>
              <a:buChar char="•"/>
            </a:pPr>
            <a:r>
              <a:rPr lang="en-PH" altLang="en-US" sz="3200">
                <a:solidFill>
                  <a:srgbClr val="344E41"/>
                </a:solidFill>
                <a:latin typeface="+mj-lt"/>
                <a:ea typeface="Canva Sans Bold" panose="020B0803030501040103"/>
                <a:cs typeface="+mj-lt"/>
                <a:sym typeface="Canva Sans Bold" panose="020B0803030501040103"/>
              </a:rPr>
              <a:t>User </a:t>
            </a:r>
            <a:r>
              <a:rPr lang="en-US" altLang="en-US" sz="3200">
                <a:solidFill>
                  <a:srgbClr val="344E41"/>
                </a:solidFill>
                <a:latin typeface="+mj-lt"/>
                <a:ea typeface="Canva Sans Bold" panose="020B0803030501040103"/>
                <a:cs typeface="+mj-lt"/>
                <a:sym typeface="Canva Sans Bold" panose="020B0803030501040103"/>
              </a:rPr>
              <a:t>Login </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PH" altLang="en-US" sz="3200">
                <a:solidFill>
                  <a:srgbClr val="344E41"/>
                </a:solidFill>
                <a:latin typeface="+mj-lt"/>
                <a:ea typeface="Canva Sans Bold" panose="020B0803030501040103"/>
                <a:cs typeface="+mj-lt"/>
                <a:sym typeface="Canva Sans Bold" panose="020B0803030501040103"/>
              </a:rPr>
              <a:t>User </a:t>
            </a:r>
            <a:r>
              <a:rPr lang="en-US" altLang="en-US" sz="3200">
                <a:solidFill>
                  <a:srgbClr val="344E41"/>
                </a:solidFill>
                <a:latin typeface="+mj-lt"/>
                <a:ea typeface="Canva Sans Bold" panose="020B0803030501040103"/>
                <a:cs typeface="+mj-lt"/>
                <a:sym typeface="Canva Sans Bold" panose="020B0803030501040103"/>
              </a:rPr>
              <a:t>View the Dashboard</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Add or Manage Land Information</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PH" altLang="en-US" sz="3200">
                <a:solidFill>
                  <a:srgbClr val="344E41"/>
                </a:solidFill>
                <a:latin typeface="+mj-lt"/>
                <a:ea typeface="Canva Sans Bold" panose="020B0803030501040103"/>
                <a:cs typeface="+mj-lt"/>
                <a:sym typeface="Canva Sans Bold" panose="020B0803030501040103"/>
              </a:rPr>
              <a:t>User </a:t>
            </a:r>
            <a:r>
              <a:rPr lang="en-US" altLang="en-US" sz="3200">
                <a:solidFill>
                  <a:srgbClr val="344E41"/>
                </a:solidFill>
                <a:latin typeface="+mj-lt"/>
                <a:ea typeface="Canva Sans Bold" panose="020B0803030501040103"/>
                <a:cs typeface="+mj-lt"/>
                <a:sym typeface="Canva Sans Bold" panose="020B0803030501040103"/>
              </a:rPr>
              <a:t>Add Tenant Information</a:t>
            </a:r>
            <a:endParaRPr lang="en-PH" altLang="en-US" sz="3200">
              <a:solidFill>
                <a:srgbClr val="344E41"/>
              </a:solidFill>
              <a:latin typeface="+mj-lt"/>
              <a:ea typeface="Canva Sans Bold" panose="020B0803030501040103"/>
              <a:cs typeface="+mj-lt"/>
              <a:sym typeface="Canva Sans Bold" panose="020B0803030501040103"/>
            </a:endParaRPr>
          </a:p>
          <a:p>
            <a:pPr marL="856615" lvl="1" indent="-457200" algn="l">
              <a:lnSpc>
                <a:spcPts val="5180"/>
              </a:lnSpc>
              <a:buFont typeface="Arial" panose="020B0604020202020204" pitchFamily="34" charset="0"/>
              <a:buChar char="•"/>
            </a:pPr>
            <a:r>
              <a:rPr lang="en-PH" altLang="en-US" sz="3200">
                <a:solidFill>
                  <a:srgbClr val="344E41"/>
                </a:solidFill>
                <a:latin typeface="+mj-lt"/>
                <a:ea typeface="Canva Sans Bold" panose="020B0803030501040103"/>
                <a:cs typeface="+mj-lt"/>
                <a:sym typeface="Canva Sans Bold" panose="020B0803030501040103"/>
              </a:rPr>
              <a:t> System</a:t>
            </a:r>
            <a:r>
              <a:rPr lang="en-US" altLang="en-US" sz="3200">
                <a:solidFill>
                  <a:srgbClr val="344E41"/>
                </a:solidFill>
                <a:latin typeface="+mj-lt"/>
                <a:ea typeface="Canva Sans Bold" panose="020B0803030501040103"/>
                <a:cs typeface="+mj-lt"/>
                <a:sym typeface="Canva Sans Bold" panose="020B0803030501040103"/>
              </a:rPr>
              <a:t> Generate Digital Receipt</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PH" altLang="en-US" sz="3200">
                <a:solidFill>
                  <a:srgbClr val="344E41"/>
                </a:solidFill>
                <a:latin typeface="+mj-lt"/>
                <a:ea typeface="Canva Sans Bold" panose="020B0803030501040103"/>
                <a:cs typeface="+mj-lt"/>
                <a:sym typeface="Canva Sans Bold" panose="020B0803030501040103"/>
              </a:rPr>
              <a:t>User </a:t>
            </a:r>
            <a:r>
              <a:rPr lang="en-US" altLang="en-US" sz="3200">
                <a:solidFill>
                  <a:srgbClr val="344E41"/>
                </a:solidFill>
                <a:latin typeface="+mj-lt"/>
                <a:ea typeface="Canva Sans Bold" panose="020B0803030501040103"/>
                <a:cs typeface="+mj-lt"/>
                <a:sym typeface="Canva Sans Bold" panose="020B0803030501040103"/>
              </a:rPr>
              <a:t>View Reports and Analytics</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PH" altLang="en-US" sz="3200">
                <a:solidFill>
                  <a:srgbClr val="344E41"/>
                </a:solidFill>
                <a:latin typeface="+mj-lt"/>
                <a:ea typeface="Canva Sans Bold" panose="020B0803030501040103"/>
                <a:cs typeface="+mj-lt"/>
                <a:sym typeface="Canva Sans Bold" panose="020B0803030501040103"/>
              </a:rPr>
              <a:t>User </a:t>
            </a:r>
            <a:r>
              <a:rPr lang="en-US" altLang="en-US" sz="3200">
                <a:solidFill>
                  <a:srgbClr val="344E41"/>
                </a:solidFill>
                <a:latin typeface="+mj-lt"/>
                <a:ea typeface="Canva Sans Bold" panose="020B0803030501040103"/>
                <a:cs typeface="+mj-lt"/>
                <a:sym typeface="Canva Sans Bold" panose="020B0803030501040103"/>
              </a:rPr>
              <a:t>Update Land Status</a:t>
            </a:r>
            <a:endParaRPr lang="en-US" altLang="en-US" sz="3200">
              <a:solidFill>
                <a:srgbClr val="344E41"/>
              </a:solidFill>
              <a:latin typeface="+mj-lt"/>
              <a:ea typeface="Canva Sans Bold" panose="020B0803030501040103"/>
              <a:cs typeface="+mj-lt"/>
              <a:sym typeface="Canva Sans Bold" panose="020B0803030501040103"/>
            </a:endParaRPr>
          </a:p>
          <a:p>
            <a:pPr marL="457200" lvl="0" indent="-457200" algn="ctr">
              <a:lnSpc>
                <a:spcPts val="5180"/>
              </a:lnSpc>
              <a:spcBef>
                <a:spcPct val="0"/>
              </a:spcBef>
              <a:buFont typeface="Arial" panose="020B0604020202020204" pitchFamily="34" charset="0"/>
              <a:buChar char="•"/>
            </a:pPr>
            <a:endParaRPr lang="en-US" altLang="en-US" sz="3200">
              <a:solidFill>
                <a:srgbClr val="344E41"/>
              </a:solidFill>
              <a:latin typeface="+mj-lt"/>
              <a:ea typeface="Canva Sans Bold" panose="020B0803030501040103"/>
              <a:cs typeface="+mj-lt"/>
              <a:sym typeface="Canva Sans Bold" panose="020B0803030501040103"/>
            </a:endParaRPr>
          </a:p>
        </p:txBody>
      </p:sp>
      <p:sp>
        <p:nvSpPr>
          <p:cNvPr id="17" name="TextBox 16"/>
          <p:cNvSpPr txBox="1"/>
          <p:nvPr/>
        </p:nvSpPr>
        <p:spPr>
          <a:xfrm>
            <a:off x="762000" y="2933700"/>
            <a:ext cx="7785100" cy="5225415"/>
          </a:xfrm>
          <a:prstGeom prst="rect">
            <a:avLst/>
          </a:prstGeom>
        </p:spPr>
        <p:txBody>
          <a:bodyPr wrap="square" lIns="0" tIns="0" rIns="0" bIns="0" rtlCol="0" anchor="t">
            <a:noAutofit/>
          </a:bodyPr>
          <a:lstStyle/>
          <a:p>
            <a:pPr marL="856615" lvl="1" indent="-4572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Digital Land and Tenant Records</a:t>
            </a:r>
            <a:endParaRPr lang="en-US" altLang="en-US" sz="3200">
              <a:solidFill>
                <a:srgbClr val="344E41"/>
              </a:solidFill>
              <a:latin typeface="+mj-lt"/>
              <a:ea typeface="Canva Sans Bold" panose="020B0803030501040103"/>
              <a:cs typeface="+mj-lt"/>
              <a:sym typeface="Canva Sans Bold" panose="020B0803030501040103"/>
            </a:endParaRPr>
          </a:p>
          <a:p>
            <a:pPr marL="856615" lvl="1" indent="-4572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Real-Time Land Status Tracking </a:t>
            </a:r>
            <a:endParaRPr lang="en-US" altLang="en-US" sz="3200">
              <a:solidFill>
                <a:srgbClr val="344E41"/>
              </a:solidFill>
              <a:latin typeface="+mj-lt"/>
              <a:ea typeface="Canva Sans Bold" panose="020B0803030501040103"/>
              <a:cs typeface="+mj-lt"/>
              <a:sym typeface="Canva Sans Bold" panose="020B0803030501040103"/>
            </a:endParaRPr>
          </a:p>
          <a:p>
            <a:pPr marL="856615" lvl="1" indent="-4572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Analytics and Dashboard Reports</a:t>
            </a:r>
            <a:endParaRPr lang="en-US" altLang="en-US" sz="3200">
              <a:solidFill>
                <a:srgbClr val="344E41"/>
              </a:solidFill>
              <a:latin typeface="+mj-lt"/>
              <a:ea typeface="Canva Sans Bold" panose="020B0803030501040103"/>
              <a:cs typeface="+mj-lt"/>
              <a:sym typeface="Canva Sans Bold" panose="020B0803030501040103"/>
            </a:endParaRPr>
          </a:p>
          <a:p>
            <a:pPr marL="856615" lvl="1" indent="-4572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Search and Quick Retrieval</a:t>
            </a:r>
            <a:r>
              <a:rPr lang="en-US" altLang="en-US" sz="3200">
                <a:solidFill>
                  <a:srgbClr val="344E41"/>
                </a:solidFill>
                <a:latin typeface="+mj-lt"/>
                <a:ea typeface="Canva Sans Bold" panose="020B0803030501040103"/>
                <a:cs typeface="+mj-lt"/>
                <a:sym typeface="Canva Sans Bold" panose="020B0803030501040103"/>
              </a:rPr>
              <a:t>    </a:t>
            </a:r>
            <a:endParaRPr lang="en-US" altLang="en-US" sz="3200">
              <a:solidFill>
                <a:srgbClr val="344E41"/>
              </a:solidFill>
              <a:latin typeface="+mj-lt"/>
              <a:ea typeface="Canva Sans Bold" panose="020B0803030501040103"/>
              <a:cs typeface="+mj-lt"/>
              <a:sym typeface="Canva Sans Bold" panose="020B0803030501040103"/>
            </a:endParaRPr>
          </a:p>
          <a:p>
            <a:pPr marL="856615" lvl="1" indent="-4572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Secure Data Management</a:t>
            </a:r>
            <a:endParaRPr lang="en-US" altLang="en-US" sz="3200">
              <a:solidFill>
                <a:srgbClr val="344E41"/>
              </a:solidFill>
              <a:latin typeface="+mj-lt"/>
              <a:ea typeface="Canva Sans Bold" panose="020B0803030501040103"/>
              <a:cs typeface="+mj-lt"/>
              <a:sym typeface="Canva Sans Bold" panose="020B0803030501040103"/>
            </a:endParaRPr>
          </a:p>
          <a:p>
            <a:pPr marL="457200" lvl="0" indent="-457200" algn="ctr">
              <a:lnSpc>
                <a:spcPts val="5180"/>
              </a:lnSpc>
              <a:spcBef>
                <a:spcPct val="0"/>
              </a:spcBef>
              <a:buFont typeface="Arial" panose="020B0604020202020204" pitchFamily="34" charset="0"/>
              <a:buChar char="•"/>
            </a:pPr>
            <a:endParaRPr sz="3200">
              <a:latin typeface="+mj-lt"/>
              <a:cs typeface="+mj-lt"/>
            </a:endParaRPr>
          </a:p>
        </p:txBody>
      </p:sp>
      <p:sp>
        <p:nvSpPr>
          <p:cNvPr id="8" name="TextBox 12"/>
          <p:cNvSpPr txBox="1"/>
          <p:nvPr/>
        </p:nvSpPr>
        <p:spPr>
          <a:xfrm>
            <a:off x="381297" y="876229"/>
            <a:ext cx="7130549" cy="699770"/>
          </a:xfrm>
          <a:prstGeom prst="rect">
            <a:avLst/>
          </a:prstGeom>
        </p:spPr>
        <p:txBody>
          <a:bodyPr lIns="0" tIns="0" rIns="0" bIns="0" rtlCol="0" anchor="t">
            <a:spAutoFit/>
          </a:bodyPr>
          <a:lstStyle/>
          <a:p>
            <a:pPr algn="ctr">
              <a:lnSpc>
                <a:spcPts val="5460"/>
              </a:lnSpc>
            </a:pPr>
            <a:r>
              <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KEY FEATURES</a:t>
            </a:r>
            <a:endPar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12" name="Group 12"/>
          <p:cNvGrpSpPr/>
          <p:nvPr/>
        </p:nvGrpSpPr>
        <p:grpSpPr>
          <a:xfrm rot="0">
            <a:off x="0" y="9258300"/>
            <a:ext cx="18288000" cy="1028700"/>
            <a:chOff x="0" y="0"/>
            <a:chExt cx="12372622" cy="695960"/>
          </a:xfrm>
        </p:grpSpPr>
        <p:sp>
          <p:nvSpPr>
            <p:cNvPr id="13" name="Freeform 1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2" name="Text Box 1"/>
          <p:cNvSpPr txBox="1"/>
          <p:nvPr/>
        </p:nvSpPr>
        <p:spPr>
          <a:xfrm>
            <a:off x="2286000" y="571500"/>
            <a:ext cx="14990445" cy="2872105"/>
          </a:xfrm>
          <a:prstGeom prst="rect">
            <a:avLst/>
          </a:prstGeom>
          <a:noFill/>
        </p:spPr>
        <p:txBody>
          <a:bodyPr wrap="square" rtlCol="0" anchor="t">
            <a:noAutofit/>
          </a:bodyPr>
          <a:p>
            <a:pPr algn="l">
              <a:lnSpc>
                <a:spcPts val="8400"/>
              </a:lnSpc>
            </a:pPr>
            <a:r>
              <a:rPr lang="en-US" altLang="en-US" sz="5400" b="1">
                <a:solidFill>
                  <a:srgbClr val="344E41"/>
                </a:solidFill>
                <a:latin typeface="Raleway Bold" panose="020B0803030101060003"/>
                <a:ea typeface="Raleway Bold" panose="020B0803030101060003"/>
                <a:cs typeface="Raleway Bold" panose="020B0803030101060003"/>
                <a:sym typeface="Raleway Bold" panose="020B0803030101060003"/>
              </a:rPr>
              <a:t>Manual rental payment tracking causes errors, delays, and inefficient reporting.</a:t>
            </a:r>
            <a:endParaRPr lang="en-US"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3" name="Text Box 2"/>
          <p:cNvSpPr txBox="1"/>
          <p:nvPr/>
        </p:nvSpPr>
        <p:spPr>
          <a:xfrm>
            <a:off x="1489710" y="3619500"/>
            <a:ext cx="15359380" cy="4831080"/>
          </a:xfrm>
          <a:prstGeom prst="rect">
            <a:avLst/>
          </a:prstGeom>
          <a:noFill/>
        </p:spPr>
        <p:txBody>
          <a:bodyPr wrap="square" rtlCol="0" anchor="t">
            <a:spAutoFit/>
          </a:bodyPr>
          <a:p>
            <a:pPr marL="457200" indent="-457200" algn="l">
              <a:lnSpc>
                <a:spcPct val="100000"/>
              </a:lnSpc>
              <a:buFont typeface="Arial" panose="020B0604020202020204" pitchFamily="34" charset="0"/>
              <a:buChar char="•"/>
            </a:pPr>
            <a:r>
              <a:rPr lang="en-US" altLang="en-US" sz="4400" b="1">
                <a:solidFill>
                  <a:srgbClr val="344E41"/>
                </a:solidFill>
                <a:latin typeface="Canva Sans" panose="020B0503030501040103"/>
                <a:ea typeface="Canva Sans" panose="020B0503030501040103"/>
                <a:cs typeface="Canva Sans" panose="020B0503030501040103"/>
                <a:sym typeface="Canva Sans" panose="020B0503030501040103"/>
              </a:rPr>
              <a:t>Landlords and property managers often rely on manual methods like spreadsheets or paper records to track rental payments. This approach is prone to human error, can lead to missed or delayed payments, and makes it difficult to quickly generate accurate financial reports. Automating the process ensures accuracy, timely monitoring, and efficient reporting.</a:t>
            </a:r>
            <a:endParaRPr lang="en-US" altLang="en-US" sz="4400" b="1">
              <a:solidFill>
                <a:srgbClr val="344E41"/>
              </a:solidFill>
              <a:latin typeface="Canva Sans" panose="020B0503030501040103"/>
              <a:ea typeface="Canva Sans" panose="020B0503030501040103"/>
              <a:cs typeface="Canva Sans" panose="020B0503030501040103"/>
              <a:sym typeface="Canva Sans" panose="020B0503030501040103"/>
            </a:endParaRPr>
          </a:p>
        </p:txBody>
      </p:sp>
      <p:sp>
        <p:nvSpPr>
          <p:cNvPr id="5" name="Text Box 4"/>
          <p:cNvSpPr txBox="1"/>
          <p:nvPr/>
        </p:nvSpPr>
        <p:spPr>
          <a:xfrm>
            <a:off x="76200" y="9334500"/>
            <a:ext cx="4209415" cy="791210"/>
          </a:xfrm>
          <a:prstGeom prst="rect">
            <a:avLst/>
          </a:prstGeom>
          <a:noFill/>
        </p:spPr>
        <p:txBody>
          <a:bodyPr wrap="square" rtlCol="0" anchor="t">
            <a:spAutoFit/>
          </a:bodyPr>
          <a:p>
            <a:pPr algn="l">
              <a:lnSpc>
                <a:spcPts val="5460"/>
              </a:lnSpc>
            </a:pPr>
            <a:r>
              <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PROBLEM</a:t>
            </a:r>
            <a:r>
              <a:rPr lang="en-US" altLang="en-PH"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 2</a:t>
            </a:r>
            <a:endParaRPr lang="en-US" altLang="en-PH" sz="40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12" name="Group 12"/>
          <p:cNvGrpSpPr/>
          <p:nvPr/>
        </p:nvGrpSpPr>
        <p:grpSpPr>
          <a:xfrm rot="0">
            <a:off x="0" y="9258300"/>
            <a:ext cx="18288000" cy="1028700"/>
            <a:chOff x="0" y="0"/>
            <a:chExt cx="12372622" cy="695960"/>
          </a:xfrm>
        </p:grpSpPr>
        <p:sp>
          <p:nvSpPr>
            <p:cNvPr id="13" name="Freeform 1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2" name="Text Box 1"/>
          <p:cNvSpPr txBox="1"/>
          <p:nvPr/>
        </p:nvSpPr>
        <p:spPr>
          <a:xfrm>
            <a:off x="1447800" y="-266700"/>
            <a:ext cx="14990445" cy="2872105"/>
          </a:xfrm>
          <a:prstGeom prst="rect">
            <a:avLst/>
          </a:prstGeom>
          <a:noFill/>
        </p:spPr>
        <p:txBody>
          <a:bodyPr wrap="square" rtlCol="0" anchor="t">
            <a:noAutofit/>
          </a:bodyPr>
          <a:p>
            <a:pPr algn="l">
              <a:lnSpc>
                <a:spcPts val="8400"/>
              </a:lnSpc>
            </a:pPr>
            <a:endParaRPr lang="en-PH"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4" name="TextBox 4"/>
          <p:cNvSpPr txBox="1"/>
          <p:nvPr/>
        </p:nvSpPr>
        <p:spPr>
          <a:xfrm>
            <a:off x="1828800" y="876300"/>
            <a:ext cx="13954125" cy="2914650"/>
          </a:xfrm>
          <a:prstGeom prst="rect">
            <a:avLst/>
          </a:prstGeom>
        </p:spPr>
        <p:txBody>
          <a:bodyPr wrap="square" lIns="0" tIns="0" rIns="0" bIns="0" rtlCol="0" anchor="t">
            <a:noAutofit/>
          </a:bodyPr>
          <a:lstStyle/>
          <a:p>
            <a:pPr algn="ctr">
              <a:lnSpc>
                <a:spcPts val="8400"/>
              </a:lnSpc>
            </a:pPr>
            <a:r>
              <a:rPr lang="en-US" altLang="en-US" sz="5400" b="1">
                <a:solidFill>
                  <a:srgbClr val="344E41"/>
                </a:solidFill>
                <a:latin typeface="Raleway Bold" panose="020B0803030101060003"/>
                <a:ea typeface="Raleway Bold" panose="020B0803030101060003"/>
                <a:cs typeface="Raleway Bold" panose="020B0803030101060003"/>
                <a:sym typeface="Raleway Bold" panose="020B0803030101060003"/>
              </a:rPr>
              <a:t>Rental Payment Tracking and Reporting Automation System</a:t>
            </a:r>
            <a:endParaRPr lang="en-US"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21" name="Text Box 20"/>
          <p:cNvSpPr txBox="1"/>
          <p:nvPr/>
        </p:nvSpPr>
        <p:spPr>
          <a:xfrm>
            <a:off x="1203960" y="4076700"/>
            <a:ext cx="15732760" cy="4057015"/>
          </a:xfrm>
          <a:prstGeom prst="rect">
            <a:avLst/>
          </a:prstGeom>
          <a:noFill/>
        </p:spPr>
        <p:txBody>
          <a:bodyPr wrap="square" rtlCol="0" anchor="t">
            <a:noAutofit/>
          </a:bodyPr>
          <a:p>
            <a:pPr marL="457200" indent="-457200" algn="l">
              <a:lnSpc>
                <a:spcPct val="100000"/>
              </a:lnSpc>
              <a:buFont typeface="Arial" panose="020B0604020202020204" pitchFamily="34" charset="0"/>
              <a:buChar char="•"/>
            </a:pPr>
            <a:r>
              <a:rPr lang="en-US"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rPr>
              <a:t>The Rental Payment Tracking and Reporting Automation System to simplify and streamline the management of rental payments. By automating payment tracking, reminders, and report generation, the system reduces errors, saves time, ensures timely payments, and provides clear, accurate records for both landlords and tenants.</a:t>
            </a:r>
            <a:endParaRPr lang="en-US"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12" name="Group 12"/>
          <p:cNvGrpSpPr/>
          <p:nvPr/>
        </p:nvGrpSpPr>
        <p:grpSpPr>
          <a:xfrm rot="0">
            <a:off x="0" y="9258300"/>
            <a:ext cx="18288000" cy="1028700"/>
            <a:chOff x="0" y="0"/>
            <a:chExt cx="12372622" cy="695960"/>
          </a:xfrm>
        </p:grpSpPr>
        <p:sp>
          <p:nvSpPr>
            <p:cNvPr id="13" name="Freeform 1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2" name="Text Box 1"/>
          <p:cNvSpPr txBox="1"/>
          <p:nvPr/>
        </p:nvSpPr>
        <p:spPr>
          <a:xfrm>
            <a:off x="1447800" y="-266700"/>
            <a:ext cx="14990445" cy="2872105"/>
          </a:xfrm>
          <a:prstGeom prst="rect">
            <a:avLst/>
          </a:prstGeom>
          <a:noFill/>
        </p:spPr>
        <p:txBody>
          <a:bodyPr wrap="square" rtlCol="0" anchor="t">
            <a:noAutofit/>
          </a:bodyPr>
          <a:p>
            <a:pPr algn="l">
              <a:lnSpc>
                <a:spcPts val="8400"/>
              </a:lnSpc>
            </a:pPr>
            <a:endParaRPr lang="en-PH"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5" name="TextBox 12"/>
          <p:cNvSpPr txBox="1"/>
          <p:nvPr/>
        </p:nvSpPr>
        <p:spPr>
          <a:xfrm>
            <a:off x="9449097" y="800029"/>
            <a:ext cx="7130549" cy="699770"/>
          </a:xfrm>
          <a:prstGeom prst="rect">
            <a:avLst/>
          </a:prstGeom>
        </p:spPr>
        <p:txBody>
          <a:bodyPr lIns="0" tIns="0" rIns="0" bIns="0" rtlCol="0" anchor="t">
            <a:spAutoFit/>
          </a:bodyPr>
          <a:lstStyle/>
          <a:p>
            <a:pPr algn="ctr">
              <a:lnSpc>
                <a:spcPts val="5460"/>
              </a:lnSpc>
            </a:pPr>
            <a:r>
              <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USER FLOW</a:t>
            </a:r>
            <a:endPar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7" name="Text Box 6"/>
          <p:cNvSpPr txBox="1"/>
          <p:nvPr/>
        </p:nvSpPr>
        <p:spPr>
          <a:xfrm>
            <a:off x="9448800" y="2476500"/>
            <a:ext cx="8412480" cy="6536055"/>
          </a:xfrm>
          <a:prstGeom prst="rect">
            <a:avLst/>
          </a:prstGeom>
          <a:noFill/>
        </p:spPr>
        <p:txBody>
          <a:bodyPr wrap="square" rtlCol="0" anchor="t">
            <a:noAutofit/>
          </a:bodyPr>
          <a:p>
            <a:pPr marL="970915" lvl="1" indent="-571500" algn="l">
              <a:lnSpc>
                <a:spcPts val="5180"/>
              </a:lnSpc>
              <a:buFont typeface="Arial" panose="020B0604020202020204" pitchFamily="34" charset="0"/>
              <a:buChar char="•"/>
            </a:pPr>
            <a:r>
              <a:rPr lang="en-PH" altLang="en-US" sz="3200">
                <a:solidFill>
                  <a:srgbClr val="344E41"/>
                </a:solidFill>
                <a:latin typeface="+mj-lt"/>
                <a:ea typeface="Canva Sans Bold" panose="020B0803030501040103"/>
                <a:cs typeface="+mj-lt"/>
                <a:sym typeface="Canva Sans Bold" panose="020B0803030501040103"/>
              </a:rPr>
              <a:t>User </a:t>
            </a:r>
            <a:r>
              <a:rPr lang="en-US" altLang="en-US" sz="3200">
                <a:solidFill>
                  <a:srgbClr val="344E41"/>
                </a:solidFill>
                <a:latin typeface="+mj-lt"/>
                <a:ea typeface="Canva Sans Bold" panose="020B0803030501040103"/>
                <a:cs typeface="+mj-lt"/>
                <a:sym typeface="Canva Sans Bold" panose="020B0803030501040103"/>
              </a:rPr>
              <a:t>Login </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Add / Manage Tenants or Rental Units</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Monitor Payments</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Automated Reminders</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Verify and Record Payments</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Make Decisions / Take Actions</a:t>
            </a:r>
            <a:r>
              <a:rPr lang="en-PH" altLang="en-US" sz="3200">
                <a:solidFill>
                  <a:srgbClr val="344E41"/>
                </a:solidFill>
                <a:latin typeface="+mj-lt"/>
                <a:ea typeface="Canva Sans Bold" panose="020B0803030501040103"/>
                <a:cs typeface="+mj-lt"/>
                <a:sym typeface="Canva Sans Bold" panose="020B0803030501040103"/>
              </a:rPr>
              <a:t>User</a:t>
            </a:r>
            <a:endParaRPr lang="en-PH"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User can View Reports and Analytics</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PH" altLang="en-US" sz="3200">
                <a:solidFill>
                  <a:srgbClr val="344E41"/>
                </a:solidFill>
                <a:latin typeface="+mj-lt"/>
                <a:ea typeface="Canva Sans Bold" panose="020B0803030501040103"/>
                <a:cs typeface="+mj-lt"/>
                <a:sym typeface="Canva Sans Bold" panose="020B0803030501040103"/>
              </a:rPr>
              <a:t>User </a:t>
            </a:r>
            <a:r>
              <a:rPr lang="en-US" altLang="en-US" sz="3200">
                <a:solidFill>
                  <a:srgbClr val="344E41"/>
                </a:solidFill>
                <a:latin typeface="+mj-lt"/>
                <a:ea typeface="Canva Sans Bold" panose="020B0803030501040103"/>
                <a:cs typeface="+mj-lt"/>
                <a:sym typeface="Canva Sans Bold" panose="020B0803030501040103"/>
              </a:rPr>
              <a:t>Update Land Status</a:t>
            </a:r>
            <a:endParaRPr lang="en-US" altLang="en-US" sz="3200">
              <a:solidFill>
                <a:srgbClr val="344E41"/>
              </a:solidFill>
              <a:latin typeface="+mj-lt"/>
              <a:ea typeface="Canva Sans Bold" panose="020B0803030501040103"/>
              <a:cs typeface="+mj-lt"/>
              <a:sym typeface="Canva Sans Bold" panose="020B0803030501040103"/>
            </a:endParaRPr>
          </a:p>
          <a:p>
            <a:pPr marL="457200" lvl="0" indent="-457200" algn="ctr">
              <a:lnSpc>
                <a:spcPts val="5180"/>
              </a:lnSpc>
              <a:spcBef>
                <a:spcPct val="0"/>
              </a:spcBef>
              <a:buFont typeface="Arial" panose="020B0604020202020204" pitchFamily="34" charset="0"/>
              <a:buChar char="•"/>
            </a:pPr>
            <a:endParaRPr lang="en-US" altLang="en-US" sz="3200">
              <a:solidFill>
                <a:srgbClr val="344E41"/>
              </a:solidFill>
              <a:latin typeface="+mj-lt"/>
              <a:ea typeface="Canva Sans Bold" panose="020B0803030501040103"/>
              <a:cs typeface="+mj-lt"/>
              <a:sym typeface="Canva Sans Bold" panose="020B0803030501040103"/>
            </a:endParaRPr>
          </a:p>
        </p:txBody>
      </p:sp>
      <p:sp>
        <p:nvSpPr>
          <p:cNvPr id="17" name="TextBox 16"/>
          <p:cNvSpPr txBox="1"/>
          <p:nvPr/>
        </p:nvSpPr>
        <p:spPr>
          <a:xfrm>
            <a:off x="762000" y="2933700"/>
            <a:ext cx="7785100" cy="5225415"/>
          </a:xfrm>
          <a:prstGeom prst="rect">
            <a:avLst/>
          </a:prstGeom>
        </p:spPr>
        <p:txBody>
          <a:bodyPr wrap="square" lIns="0" tIns="0" rIns="0" bIns="0" rtlCol="0" anchor="t">
            <a:noAutofit/>
          </a:bodyPr>
          <a:lstStyle/>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Payment Status Monitoring</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Automated Payment Recording</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Automated Reminders</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Report Generation</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Tenant Payment History</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Dashboard Overview</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Search and Retrieve Information</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endParaRPr lang="en-US" altLang="en-US" sz="3200">
              <a:solidFill>
                <a:srgbClr val="344E41"/>
              </a:solidFill>
              <a:latin typeface="+mj-lt"/>
              <a:ea typeface="Canva Sans Bold" panose="020B0803030501040103"/>
              <a:cs typeface="+mj-lt"/>
              <a:sym typeface="Canva Sans Bold" panose="020B0803030501040103"/>
            </a:endParaRPr>
          </a:p>
          <a:p>
            <a:pPr marL="285750" lvl="0" indent="-285750" algn="ctr">
              <a:lnSpc>
                <a:spcPts val="5180"/>
              </a:lnSpc>
              <a:spcBef>
                <a:spcPct val="0"/>
              </a:spcBef>
              <a:buFont typeface="Arial" panose="020B0604020202020204" pitchFamily="34" charset="0"/>
              <a:buChar char="•"/>
            </a:pPr>
            <a:endParaRPr sz="3200">
              <a:latin typeface="+mj-lt"/>
              <a:cs typeface="+mj-lt"/>
            </a:endParaRPr>
          </a:p>
        </p:txBody>
      </p:sp>
      <p:sp>
        <p:nvSpPr>
          <p:cNvPr id="8" name="TextBox 12"/>
          <p:cNvSpPr txBox="1"/>
          <p:nvPr/>
        </p:nvSpPr>
        <p:spPr>
          <a:xfrm>
            <a:off x="381297" y="876229"/>
            <a:ext cx="7130549" cy="699770"/>
          </a:xfrm>
          <a:prstGeom prst="rect">
            <a:avLst/>
          </a:prstGeom>
        </p:spPr>
        <p:txBody>
          <a:bodyPr lIns="0" tIns="0" rIns="0" bIns="0" rtlCol="0" anchor="t">
            <a:spAutoFit/>
          </a:bodyPr>
          <a:lstStyle/>
          <a:p>
            <a:pPr algn="ctr">
              <a:lnSpc>
                <a:spcPts val="5460"/>
              </a:lnSpc>
            </a:pPr>
            <a:r>
              <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KEY FEATURES</a:t>
            </a:r>
            <a:endPar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12" name="Group 12"/>
          <p:cNvGrpSpPr/>
          <p:nvPr/>
        </p:nvGrpSpPr>
        <p:grpSpPr>
          <a:xfrm rot="0">
            <a:off x="0" y="9258300"/>
            <a:ext cx="18288000" cy="1028700"/>
            <a:chOff x="0" y="0"/>
            <a:chExt cx="12372622" cy="695960"/>
          </a:xfrm>
        </p:grpSpPr>
        <p:sp>
          <p:nvSpPr>
            <p:cNvPr id="13" name="Freeform 1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2" name="Text Box 1"/>
          <p:cNvSpPr txBox="1"/>
          <p:nvPr/>
        </p:nvSpPr>
        <p:spPr>
          <a:xfrm>
            <a:off x="1764665" y="1028700"/>
            <a:ext cx="14759305" cy="2037715"/>
          </a:xfrm>
          <a:prstGeom prst="rect">
            <a:avLst/>
          </a:prstGeom>
          <a:noFill/>
        </p:spPr>
        <p:txBody>
          <a:bodyPr wrap="square" rtlCol="0" anchor="t">
            <a:noAutofit/>
          </a:bodyPr>
          <a:p>
            <a:pPr algn="ctr">
              <a:lnSpc>
                <a:spcPts val="8400"/>
              </a:lnSpc>
            </a:pPr>
            <a:r>
              <a:rPr lang="en-US" altLang="en-US" sz="5400" b="1">
                <a:solidFill>
                  <a:srgbClr val="344E41"/>
                </a:solidFill>
                <a:latin typeface="Raleway Bold" panose="020B0803030101060003"/>
                <a:ea typeface="Raleway Bold" panose="020B0803030101060003"/>
                <a:cs typeface="Raleway Bold" panose="020B0803030101060003"/>
                <a:sym typeface="Raleway Bold" panose="020B0803030101060003"/>
              </a:rPr>
              <a:t>Inefficient stock management and poor demand forecasting.</a:t>
            </a:r>
            <a:endParaRPr lang="en-US"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3" name="Text Box 2"/>
          <p:cNvSpPr txBox="1"/>
          <p:nvPr/>
        </p:nvSpPr>
        <p:spPr>
          <a:xfrm>
            <a:off x="1524000" y="4457700"/>
            <a:ext cx="15359380" cy="2799715"/>
          </a:xfrm>
          <a:prstGeom prst="rect">
            <a:avLst/>
          </a:prstGeom>
          <a:noFill/>
        </p:spPr>
        <p:txBody>
          <a:bodyPr wrap="square" rtlCol="0" anchor="t">
            <a:spAutoFit/>
          </a:bodyPr>
          <a:p>
            <a:pPr marL="457200" indent="-457200" algn="l">
              <a:lnSpc>
                <a:spcPct val="100000"/>
              </a:lnSpc>
              <a:buFont typeface="Arial" panose="020B0604020202020204" pitchFamily="34" charset="0"/>
              <a:buChar char="•"/>
            </a:pPr>
            <a:r>
              <a:rPr lang="en-US" altLang="en-US" sz="4400">
                <a:solidFill>
                  <a:srgbClr val="344E41"/>
                </a:solidFill>
                <a:latin typeface="Canva Sans" panose="020B0503030501040103"/>
                <a:ea typeface="Canva Sans" panose="020B0503030501040103"/>
                <a:cs typeface="Canva Sans" panose="020B0503030501040103"/>
                <a:sym typeface="Canva Sans" panose="020B0503030501040103"/>
              </a:rPr>
              <a:t>Cleaning supply distributors struggle with keeping the right stock levels, often facing overstocking, shortages, and manual tracking errors, which lead to lost sales, wasted resources, and inefficient operations.</a:t>
            </a:r>
            <a:endParaRPr lang="en-US" altLang="en-US" sz="4400">
              <a:solidFill>
                <a:srgbClr val="344E41"/>
              </a:solidFill>
              <a:latin typeface="Canva Sans" panose="020B0503030501040103"/>
              <a:ea typeface="Canva Sans" panose="020B0503030501040103"/>
              <a:cs typeface="Canva Sans" panose="020B0503030501040103"/>
              <a:sym typeface="Canva Sans" panose="020B0503030501040103"/>
            </a:endParaRPr>
          </a:p>
        </p:txBody>
      </p:sp>
      <p:sp>
        <p:nvSpPr>
          <p:cNvPr id="5" name="Text Box 4"/>
          <p:cNvSpPr txBox="1"/>
          <p:nvPr/>
        </p:nvSpPr>
        <p:spPr>
          <a:xfrm>
            <a:off x="76200" y="9334500"/>
            <a:ext cx="4209415" cy="791210"/>
          </a:xfrm>
          <a:prstGeom prst="rect">
            <a:avLst/>
          </a:prstGeom>
          <a:noFill/>
        </p:spPr>
        <p:txBody>
          <a:bodyPr wrap="square" rtlCol="0" anchor="t">
            <a:spAutoFit/>
          </a:bodyPr>
          <a:p>
            <a:pPr algn="l">
              <a:lnSpc>
                <a:spcPts val="5460"/>
              </a:lnSpc>
            </a:pPr>
            <a:r>
              <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PROBLEM </a:t>
            </a:r>
            <a:r>
              <a:rPr lang="en-US" altLang="en-PH"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3</a:t>
            </a:r>
            <a:endParaRPr lang="en-US" altLang="en-PH" sz="40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12" name="Group 12"/>
          <p:cNvGrpSpPr/>
          <p:nvPr/>
        </p:nvGrpSpPr>
        <p:grpSpPr>
          <a:xfrm rot="0">
            <a:off x="0" y="9258300"/>
            <a:ext cx="18288000" cy="1028700"/>
            <a:chOff x="0" y="0"/>
            <a:chExt cx="12372622" cy="695960"/>
          </a:xfrm>
        </p:grpSpPr>
        <p:sp>
          <p:nvSpPr>
            <p:cNvPr id="13" name="Freeform 1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2" name="Text Box 1"/>
          <p:cNvSpPr txBox="1"/>
          <p:nvPr/>
        </p:nvSpPr>
        <p:spPr>
          <a:xfrm>
            <a:off x="1447800" y="-266700"/>
            <a:ext cx="14990445" cy="2872105"/>
          </a:xfrm>
          <a:prstGeom prst="rect">
            <a:avLst/>
          </a:prstGeom>
          <a:noFill/>
        </p:spPr>
        <p:txBody>
          <a:bodyPr wrap="square" rtlCol="0" anchor="t">
            <a:noAutofit/>
          </a:bodyPr>
          <a:p>
            <a:pPr algn="l">
              <a:lnSpc>
                <a:spcPts val="8400"/>
              </a:lnSpc>
            </a:pPr>
            <a:endParaRPr lang="en-PH"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4" name="TextBox 4"/>
          <p:cNvSpPr txBox="1"/>
          <p:nvPr/>
        </p:nvSpPr>
        <p:spPr>
          <a:xfrm>
            <a:off x="1828800" y="876300"/>
            <a:ext cx="13954125" cy="2914650"/>
          </a:xfrm>
          <a:prstGeom prst="rect">
            <a:avLst/>
          </a:prstGeom>
        </p:spPr>
        <p:txBody>
          <a:bodyPr wrap="square" lIns="0" tIns="0" rIns="0" bIns="0" rtlCol="0" anchor="t">
            <a:noAutofit/>
          </a:bodyPr>
          <a:lstStyle/>
          <a:p>
            <a:pPr algn="ctr">
              <a:lnSpc>
                <a:spcPts val="8400"/>
              </a:lnSpc>
            </a:pPr>
            <a:r>
              <a:rPr lang="en-US" altLang="en-US" sz="5400" b="1">
                <a:solidFill>
                  <a:srgbClr val="344E41"/>
                </a:solidFill>
                <a:latin typeface="Raleway Bold" panose="020B0803030101060003"/>
                <a:ea typeface="Raleway Bold" panose="020B0803030101060003"/>
                <a:cs typeface="Raleway Bold" panose="020B0803030101060003"/>
                <a:sym typeface="Raleway Bold" panose="020B0803030101060003"/>
              </a:rPr>
              <a:t>Intelligent Stock &amp; Sales Analysis for Cleaning Distribution</a:t>
            </a:r>
            <a:endParaRPr lang="en-US"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21" name="Text Box 20"/>
          <p:cNvSpPr txBox="1"/>
          <p:nvPr/>
        </p:nvSpPr>
        <p:spPr>
          <a:xfrm>
            <a:off x="1203960" y="4076700"/>
            <a:ext cx="15732760" cy="4057015"/>
          </a:xfrm>
          <a:prstGeom prst="rect">
            <a:avLst/>
          </a:prstGeom>
          <a:noFill/>
        </p:spPr>
        <p:txBody>
          <a:bodyPr wrap="square" rtlCol="0" anchor="t">
            <a:noAutofit/>
          </a:bodyPr>
          <a:p>
            <a:pPr marL="457200" indent="-457200" algn="l">
              <a:lnSpc>
                <a:spcPct val="100000"/>
              </a:lnSpc>
              <a:buFont typeface="Arial" panose="020B0604020202020204" pitchFamily="34" charset="0"/>
              <a:buChar char="•"/>
            </a:pPr>
            <a:r>
              <a:rPr lang="en-US"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rPr>
              <a:t>This system addresses the problem of inefficient stock management and inaccurate demand forecasting in cleaning supply distribution. It aims to streamline stock tracking, reduce errors, and provide insights for better business decisions through data-driven analysis.</a:t>
            </a:r>
            <a:r>
              <a:rPr lang="en-PH"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rPr>
              <a:t> </a:t>
            </a:r>
            <a:r>
              <a:rPr lang="en-US"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rPr>
              <a:t>Empowers distributors with actionable insights to improve inventory accuracy and customer satisfaction.</a:t>
            </a:r>
            <a:endParaRPr lang="en-US" altLang="en-US" sz="4000">
              <a:solidFill>
                <a:srgbClr val="344E41"/>
              </a:solidFill>
              <a:latin typeface="Arial" panose="020B0604020202020204" pitchFamily="34" charset="0"/>
              <a:ea typeface="Canva Sans" panose="020B0503030501040103"/>
              <a:cs typeface="Arial" panose="020B0604020202020204" pitchFamily="34" charset="0"/>
              <a:sym typeface="Canva Sans" panose="020B0503030501040103"/>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12" name="Group 12"/>
          <p:cNvGrpSpPr/>
          <p:nvPr/>
        </p:nvGrpSpPr>
        <p:grpSpPr>
          <a:xfrm rot="0">
            <a:off x="0" y="9258300"/>
            <a:ext cx="18288000" cy="1028700"/>
            <a:chOff x="0" y="0"/>
            <a:chExt cx="12372622" cy="695960"/>
          </a:xfrm>
        </p:grpSpPr>
        <p:sp>
          <p:nvSpPr>
            <p:cNvPr id="13" name="Freeform 1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2" name="Text Box 1"/>
          <p:cNvSpPr txBox="1"/>
          <p:nvPr/>
        </p:nvSpPr>
        <p:spPr>
          <a:xfrm>
            <a:off x="1649095" y="-419100"/>
            <a:ext cx="14990445" cy="2872105"/>
          </a:xfrm>
          <a:prstGeom prst="rect">
            <a:avLst/>
          </a:prstGeom>
          <a:noFill/>
        </p:spPr>
        <p:txBody>
          <a:bodyPr wrap="square" rtlCol="0" anchor="t">
            <a:noAutofit/>
          </a:bodyPr>
          <a:p>
            <a:pPr algn="l">
              <a:lnSpc>
                <a:spcPts val="8400"/>
              </a:lnSpc>
            </a:pPr>
            <a:endParaRPr lang="en-PH" altLang="en-US" sz="5400" b="1">
              <a:solidFill>
                <a:srgbClr val="344E41"/>
              </a:solidFill>
              <a:latin typeface="Raleway Bold" panose="020B0803030101060003"/>
              <a:ea typeface="Raleway Bold" panose="020B0803030101060003"/>
              <a:cs typeface="Raleway Bold" panose="020B0803030101060003"/>
              <a:sym typeface="Raleway Bold" panose="020B0803030101060003"/>
            </a:endParaRPr>
          </a:p>
        </p:txBody>
      </p:sp>
      <p:sp>
        <p:nvSpPr>
          <p:cNvPr id="5" name="TextBox 12"/>
          <p:cNvSpPr txBox="1"/>
          <p:nvPr/>
        </p:nvSpPr>
        <p:spPr>
          <a:xfrm>
            <a:off x="8763297" y="952429"/>
            <a:ext cx="7130549" cy="699770"/>
          </a:xfrm>
          <a:prstGeom prst="rect">
            <a:avLst/>
          </a:prstGeom>
        </p:spPr>
        <p:txBody>
          <a:bodyPr lIns="0" tIns="0" rIns="0" bIns="0" rtlCol="0" anchor="t">
            <a:spAutoFit/>
          </a:bodyPr>
          <a:lstStyle/>
          <a:p>
            <a:pPr algn="ctr">
              <a:lnSpc>
                <a:spcPts val="5460"/>
              </a:lnSpc>
            </a:pPr>
            <a:r>
              <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USER FLOW</a:t>
            </a:r>
            <a:endPar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7" name="Text Box 6"/>
          <p:cNvSpPr txBox="1"/>
          <p:nvPr/>
        </p:nvSpPr>
        <p:spPr>
          <a:xfrm>
            <a:off x="9525000" y="2705100"/>
            <a:ext cx="8412480" cy="5862320"/>
          </a:xfrm>
          <a:prstGeom prst="rect">
            <a:avLst/>
          </a:prstGeom>
          <a:noFill/>
        </p:spPr>
        <p:txBody>
          <a:bodyPr wrap="square" rtlCol="0" anchor="t">
            <a:noAutofit/>
          </a:bodyPr>
          <a:p>
            <a:pPr marL="970915" lvl="1" indent="-571500" algn="l">
              <a:lnSpc>
                <a:spcPts val="5180"/>
              </a:lnSpc>
              <a:buFont typeface="Arial" panose="020B0604020202020204" pitchFamily="34" charset="0"/>
              <a:buChar char="•"/>
            </a:pPr>
            <a:r>
              <a:rPr lang="en-PH" altLang="en-US" sz="3200">
                <a:solidFill>
                  <a:srgbClr val="344E41"/>
                </a:solidFill>
                <a:latin typeface="+mj-lt"/>
                <a:ea typeface="Canva Sans Bold" panose="020B0803030501040103"/>
                <a:cs typeface="+mj-lt"/>
                <a:sym typeface="Canva Sans Bold" panose="020B0803030501040103"/>
              </a:rPr>
              <a:t>User </a:t>
            </a:r>
            <a:r>
              <a:rPr lang="en-US" altLang="en-US" sz="3200">
                <a:solidFill>
                  <a:srgbClr val="344E41"/>
                </a:solidFill>
                <a:latin typeface="+mj-lt"/>
                <a:ea typeface="Canva Sans Bold" panose="020B0803030501040103"/>
                <a:cs typeface="+mj-lt"/>
                <a:sym typeface="Canva Sans Bold" panose="020B0803030501040103"/>
              </a:rPr>
              <a:t>Login </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Dashboard Access </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View Current Stock Levels </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Add / Update Stock Items </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Track Orders &amp; Deliveries </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Generate Reports &amp; Analytics </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Receive Alerts &amp; Notifications </a:t>
            </a:r>
            <a:endParaRPr lang="en-US" altLang="en-US" sz="3200">
              <a:solidFill>
                <a:srgbClr val="344E41"/>
              </a:solidFill>
              <a:latin typeface="+mj-lt"/>
              <a:ea typeface="Canva Sans Bold" panose="020B0803030501040103"/>
              <a:cs typeface="+mj-lt"/>
              <a:sym typeface="Canva Sans Bold" panose="020B0803030501040103"/>
            </a:endParaRPr>
          </a:p>
          <a:p>
            <a:pPr marL="457200" lvl="0" indent="-457200" algn="ctr">
              <a:lnSpc>
                <a:spcPts val="5180"/>
              </a:lnSpc>
              <a:spcBef>
                <a:spcPct val="0"/>
              </a:spcBef>
              <a:buFont typeface="Arial" panose="020B0604020202020204" pitchFamily="34" charset="0"/>
              <a:buChar char="•"/>
            </a:pP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endParaRPr lang="en-US" altLang="en-US" sz="3200">
              <a:solidFill>
                <a:srgbClr val="344E41"/>
              </a:solidFill>
              <a:latin typeface="+mj-lt"/>
              <a:ea typeface="Canva Sans Bold" panose="020B0803030501040103"/>
              <a:cs typeface="+mj-lt"/>
              <a:sym typeface="Canva Sans Bold" panose="020B0803030501040103"/>
            </a:endParaRPr>
          </a:p>
          <a:p>
            <a:pPr marL="457200" lvl="0" indent="-457200" algn="ctr">
              <a:lnSpc>
                <a:spcPts val="5180"/>
              </a:lnSpc>
              <a:spcBef>
                <a:spcPct val="0"/>
              </a:spcBef>
              <a:buFont typeface="Arial" panose="020B0604020202020204" pitchFamily="34" charset="0"/>
              <a:buChar char="•"/>
            </a:pPr>
            <a:endParaRPr lang="en-US" altLang="en-US" sz="3200">
              <a:solidFill>
                <a:srgbClr val="344E41"/>
              </a:solidFill>
              <a:latin typeface="+mj-lt"/>
              <a:ea typeface="Canva Sans Bold" panose="020B0803030501040103"/>
              <a:cs typeface="+mj-lt"/>
              <a:sym typeface="Canva Sans Bold" panose="020B0803030501040103"/>
            </a:endParaRPr>
          </a:p>
        </p:txBody>
      </p:sp>
      <p:sp>
        <p:nvSpPr>
          <p:cNvPr id="17" name="TextBox 16"/>
          <p:cNvSpPr txBox="1"/>
          <p:nvPr/>
        </p:nvSpPr>
        <p:spPr>
          <a:xfrm>
            <a:off x="762000" y="2933700"/>
            <a:ext cx="7785100" cy="5225415"/>
          </a:xfrm>
          <a:prstGeom prst="rect">
            <a:avLst/>
          </a:prstGeom>
        </p:spPr>
        <p:txBody>
          <a:bodyPr wrap="square" lIns="0" tIns="0" rIns="0" bIns="0" rtlCol="0" anchor="t">
            <a:noAutofit/>
          </a:bodyPr>
          <a:lstStyle/>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Real-Time Stock Tracking</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Sales &amp; Demand Analytics</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Automated Alerts &amp; Notifications</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Supplier &amp; Order Management</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Data-Driven Reporting</a:t>
            </a:r>
            <a:endParaRPr lang="en-US" altLang="en-US" sz="3200">
              <a:solidFill>
                <a:srgbClr val="344E41"/>
              </a:solidFill>
              <a:latin typeface="+mj-lt"/>
              <a:ea typeface="Canva Sans Bold" panose="020B0803030501040103"/>
              <a:cs typeface="+mj-lt"/>
              <a:sym typeface="Canva Sans Bold" panose="020B0803030501040103"/>
            </a:endParaRPr>
          </a:p>
          <a:p>
            <a:pPr marL="970915" lvl="1" indent="-571500" algn="l">
              <a:lnSpc>
                <a:spcPts val="5180"/>
              </a:lnSpc>
              <a:buFont typeface="Arial" panose="020B0604020202020204" pitchFamily="34" charset="0"/>
              <a:buChar char="•"/>
            </a:pPr>
            <a:r>
              <a:rPr lang="en-US" altLang="en-US" sz="3200">
                <a:solidFill>
                  <a:srgbClr val="344E41"/>
                </a:solidFill>
                <a:latin typeface="+mj-lt"/>
                <a:ea typeface="Canva Sans Bold" panose="020B0803030501040103"/>
                <a:cs typeface="+mj-lt"/>
                <a:sym typeface="Canva Sans Bold" panose="020B0803030501040103"/>
              </a:rPr>
              <a:t>User-Friendly Dashboard</a:t>
            </a:r>
            <a:endParaRPr lang="en-US" altLang="en-US" sz="3200">
              <a:solidFill>
                <a:srgbClr val="344E41"/>
              </a:solidFill>
              <a:latin typeface="+mj-lt"/>
              <a:ea typeface="Canva Sans Bold" panose="020B0803030501040103"/>
              <a:cs typeface="+mj-lt"/>
              <a:sym typeface="Canva Sans Bold" panose="020B0803030501040103"/>
            </a:endParaRPr>
          </a:p>
          <a:p>
            <a:pPr lvl="0" indent="0" algn="ctr">
              <a:lnSpc>
                <a:spcPts val="5180"/>
              </a:lnSpc>
              <a:spcBef>
                <a:spcPct val="0"/>
              </a:spcBef>
              <a:buFont typeface="Arial" panose="020B0604020202020204" pitchFamily="34" charset="0"/>
              <a:buNone/>
            </a:pPr>
            <a:endParaRPr sz="3200">
              <a:latin typeface="+mj-lt"/>
              <a:cs typeface="+mj-lt"/>
            </a:endParaRPr>
          </a:p>
        </p:txBody>
      </p:sp>
      <p:sp>
        <p:nvSpPr>
          <p:cNvPr id="8" name="TextBox 12"/>
          <p:cNvSpPr txBox="1"/>
          <p:nvPr/>
        </p:nvSpPr>
        <p:spPr>
          <a:xfrm>
            <a:off x="381297" y="876229"/>
            <a:ext cx="7130549" cy="699770"/>
          </a:xfrm>
          <a:prstGeom prst="rect">
            <a:avLst/>
          </a:prstGeom>
        </p:spPr>
        <p:txBody>
          <a:bodyPr lIns="0" tIns="0" rIns="0" bIns="0" rtlCol="0" anchor="t">
            <a:spAutoFit/>
          </a:bodyPr>
          <a:lstStyle/>
          <a:p>
            <a:pPr algn="ctr">
              <a:lnSpc>
                <a:spcPts val="5460"/>
              </a:lnSpc>
            </a:pPr>
            <a:r>
              <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rPr>
              <a:t>KEY FEATURES</a:t>
            </a:r>
            <a:endParaRPr lang="en-PH" altLang="en-US" sz="4000" b="1">
              <a:solidFill>
                <a:srgbClr val="344E41"/>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2776554" y="4000284"/>
            <a:ext cx="12734892" cy="1461770"/>
          </a:xfrm>
          <a:prstGeom prst="rect">
            <a:avLst/>
          </a:prstGeom>
        </p:spPr>
        <p:txBody>
          <a:bodyPr lIns="0" tIns="0" rIns="0" bIns="0" rtlCol="0" anchor="t">
            <a:spAutoFit/>
          </a:bodyPr>
          <a:lstStyle/>
          <a:p>
            <a:pPr algn="ctr">
              <a:lnSpc>
                <a:spcPts val="11400"/>
              </a:lnSpc>
            </a:pPr>
            <a:r>
              <a:rPr lang="en-US" sz="11400">
                <a:solidFill>
                  <a:srgbClr val="344E41"/>
                </a:solidFill>
                <a:latin typeface="Prata" panose="00000500000000000000"/>
                <a:ea typeface="Prata" panose="00000500000000000000"/>
                <a:cs typeface="Prata" panose="00000500000000000000"/>
                <a:sym typeface="Prata" panose="00000500000000000000"/>
              </a:rPr>
              <a:t>THANK YOU </a:t>
            </a:r>
            <a:endParaRPr lang="en-US" sz="11400">
              <a:solidFill>
                <a:srgbClr val="344E41"/>
              </a:solidFill>
              <a:latin typeface="Prata" panose="00000500000000000000"/>
              <a:ea typeface="Prata" panose="00000500000000000000"/>
              <a:cs typeface="Prata" panose="00000500000000000000"/>
              <a:sym typeface="Prata" panose="00000500000000000000"/>
            </a:endParaRPr>
          </a:p>
        </p:txBody>
      </p:sp>
      <p:grpSp>
        <p:nvGrpSpPr>
          <p:cNvPr id="3" name="Group 3"/>
          <p:cNvGrpSpPr/>
          <p:nvPr/>
        </p:nvGrpSpPr>
        <p:grpSpPr>
          <a:xfrm rot="0">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p:cNvSpPr txBox="1"/>
          <p:nvPr/>
        </p:nvSpPr>
        <p:spPr>
          <a:xfrm>
            <a:off x="2776554" y="2781574"/>
            <a:ext cx="12734892" cy="873125"/>
          </a:xfrm>
          <a:prstGeom prst="rect">
            <a:avLst/>
          </a:prstGeom>
        </p:spPr>
        <p:txBody>
          <a:bodyPr lIns="0" tIns="0" rIns="0" bIns="0" rtlCol="0" anchor="t">
            <a:spAutoFit/>
          </a:bodyPr>
          <a:lstStyle/>
          <a:p>
            <a:pPr algn="ctr">
              <a:lnSpc>
                <a:spcPts val="7000"/>
              </a:lnSpc>
            </a:pPr>
            <a:r>
              <a:rPr lang="en-US" sz="5000">
                <a:solidFill>
                  <a:srgbClr val="344E41"/>
                </a:solidFill>
                <a:latin typeface="Raleway" panose="020B0503030101060003"/>
                <a:ea typeface="Raleway" panose="020B0503030101060003"/>
                <a:cs typeface="Raleway" panose="020B0503030101060003"/>
                <a:sym typeface="Raleway" panose="020B0503030101060003"/>
              </a:rPr>
              <a:t>THE END</a:t>
            </a:r>
            <a:endParaRPr lang="en-US" sz="5000">
              <a:solidFill>
                <a:srgbClr val="344E41"/>
              </a:solidFill>
              <a:latin typeface="Raleway" panose="020B0503030101060003"/>
              <a:ea typeface="Raleway" panose="020B0503030101060003"/>
              <a:cs typeface="Raleway" panose="020B0503030101060003"/>
              <a:sym typeface="Raleway" panose="020B0503030101060003"/>
            </a:endParaRPr>
          </a:p>
        </p:txBody>
      </p:sp>
      <p:sp>
        <p:nvSpPr>
          <p:cNvPr id="9" name="Text Box 8"/>
          <p:cNvSpPr txBox="1"/>
          <p:nvPr/>
        </p:nvSpPr>
        <p:spPr>
          <a:xfrm>
            <a:off x="4430395" y="896620"/>
            <a:ext cx="6096000" cy="2030095"/>
          </a:xfrm>
          <a:prstGeom prst="rect">
            <a:avLst/>
          </a:prstGeom>
          <a:noFill/>
        </p:spPr>
        <p:txBody>
          <a:bodyPr wrap="square" rtlCol="0">
            <a:spAutoFit/>
          </a:bodyPr>
          <a:p>
            <a:endParaRPr lang="en-US"/>
          </a:p>
          <a:p>
            <a:endParaRPr lang="en-US"/>
          </a:p>
          <a:p>
            <a:endParaRPr lang="en-US"/>
          </a:p>
          <a:p>
            <a:endParaRPr lang="en-US"/>
          </a:p>
          <a:p>
            <a:endParaRPr lang="en-US"/>
          </a:p>
          <a:p>
            <a:endParaRPr lang="en-US"/>
          </a:p>
          <a:p>
            <a:endParaRPr lang="en-US"/>
          </a:p>
        </p:txBody>
      </p:sp>
    </p:spTree>
  </p:cSld>
  <p:clrMapOvr>
    <a:masterClrMapping/>
  </p:clrMapOvr>
  <p:transition spd="slow"/>
</p:sld>
</file>

<file path=ppt/tags/tag1.xml><?xml version="1.0" encoding="utf-8"?>
<p:tagLst xmlns:p="http://schemas.openxmlformats.org/presentationml/2006/main">
  <p:tag name="KSO_WM_DIAGRAM_VIRTUALLY_FRAME" val="{&quot;height&quot;:678.75,&quot;left&quot;:104.7,&quot;top&quot;:142.95,&quot;width&quot;:1210.2615748031496}"/>
</p:tagLst>
</file>

<file path=ppt/tags/tag2.xml><?xml version="1.0" encoding="utf-8"?>
<p:tagLst xmlns:p="http://schemas.openxmlformats.org/presentationml/2006/main">
  <p:tag name="KSO_WM_DIAGRAM_VIRTUALLY_FRAME" val="{&quot;height&quot;:678.75,&quot;left&quot;:104.7,&quot;top&quot;:142.95,&quot;width&quot;:1210.2615748031496}"/>
</p:tagLst>
</file>

<file path=ppt/tags/tag3.xml><?xml version="1.0" encoding="utf-8"?>
<p:tagLst xmlns:p="http://schemas.openxmlformats.org/presentationml/2006/main">
  <p:tag name="KSO_WM_DIAGRAM_VIRTUALLY_FRAME" val="{&quot;height&quot;:678.75,&quot;left&quot;:104.7,&quot;top&quot;:142.95,&quot;width&quot;:1210.2615748031496}"/>
</p:tagLst>
</file>

<file path=ppt/tags/tag4.xml><?xml version="1.0" encoding="utf-8"?>
<p:tagLst xmlns:p="http://schemas.openxmlformats.org/presentationml/2006/main">
  <p:tag name="KSO_WM_DIAGRAM_VIRTUALLY_FRAME" val="{&quot;height&quot;:678.75,&quot;left&quot;:104.7,&quot;top&quot;:142.95,&quot;width&quot;:1210.2615748031496}"/>
</p:tagLst>
</file>

<file path=ppt/tags/tag5.xml><?xml version="1.0" encoding="utf-8"?>
<p:tagLst xmlns:p="http://schemas.openxmlformats.org/presentationml/2006/main">
  <p:tag name="KSO_WM_DIAGRAM_VIRTUALLY_FRAME" val="{&quot;height&quot;:678.75,&quot;left&quot;:104.7,&quot;top&quot;:142.95,&quot;width&quot;:1210.2615748031496}"/>
</p:tagLst>
</file>

<file path=ppt/tags/tag6.xml><?xml version="1.0" encoding="utf-8"?>
<p:tagLst xmlns:p="http://schemas.openxmlformats.org/presentationml/2006/main">
  <p:tag name="KSO_WM_DIAGRAM_VIRTUALLY_FRAME" val="{&quot;height&quot;:678.75,&quot;left&quot;:104.7,&quot;top&quot;:142.95,&quot;width&quot;:1210.2615748031496}"/>
</p:tagLst>
</file>

<file path=ppt/tags/tag7.xml><?xml version="1.0" encoding="utf-8"?>
<p:tagLst xmlns:p="http://schemas.openxmlformats.org/presentationml/2006/main">
  <p:tag name="KSO_WM_DIAGRAM_VIRTUALLY_FRAME" val="{&quot;height&quot;:678.75,&quot;left&quot;:104.7,&quot;top&quot;:142.95,&quot;width&quot;:1210.2615748031496}"/>
</p:tagLst>
</file>

<file path=ppt/tags/tag8.xml><?xml version="1.0" encoding="utf-8"?>
<p:tagLst xmlns:p="http://schemas.openxmlformats.org/presentationml/2006/main">
  <p:tag name="KSO_WM_DIAGRAM_VIRTUALLY_FRAME" val="{&quot;height&quot;:678.75,&quot;left&quot;:104.7,&quot;top&quot;:142.95,&quot;width&quot;:1210.2615748031496}"/>
</p:tagLst>
</file>

<file path=ppt/tags/tag9.xml><?xml version="1.0" encoding="utf-8"?>
<p:tagLst xmlns:p="http://schemas.openxmlformats.org/presentationml/2006/main">
  <p:tag name="KSO_WM_DIAGRAM_VIRTUALLY_FRAME" val="{&quot;height&quot;:678.75,&quot;left&quot;:104.7,&quot;top&quot;:142.95,&quot;width&quot;:1210.2615748031496}"/>
</p:tagLst>
</file>

<file path=ppt/tags/tag10.xml><?xml version="1.0" encoding="utf-8"?>
<p:tagLst xmlns:p="http://schemas.openxmlformats.org/presentationml/2006/main">
  <p:tag name="KSO_WM_DIAGRAM_VIRTUALLY_FRAME" val="{&quot;height&quot;:678.75,&quot;left&quot;:104.7,&quot;top&quot;:142.95,&quot;width&quot;:1210.2615748031496}"/>
</p:tagLst>
</file>

<file path=ppt/tags/tag11.xml><?xml version="1.0" encoding="utf-8"?>
<p:tagLst xmlns:p="http://schemas.openxmlformats.org/presentationml/2006/main">
  <p:tag name="KSO_WM_DIAGRAM_VIRTUALLY_FRAME" val="{&quot;height&quot;:678.75,&quot;left&quot;:104.7,&quot;top&quot;:142.95,&quot;width&quot;:1210.2615748031496}"/>
</p:tagLst>
</file>

<file path=ppt/tags/tag12.xml><?xml version="1.0" encoding="utf-8"?>
<p:tagLst xmlns:p="http://schemas.openxmlformats.org/presentationml/2006/main">
  <p:tag name="KSO_WM_DIAGRAM_VIRTUALLY_FRAME" val="{&quot;height&quot;:678.75,&quot;left&quot;:104.7,&quot;top&quot;:142.95,&quot;width&quot;:1210.2615748031496}"/>
</p:tagLst>
</file>

<file path=ppt/tags/tag13.xml><?xml version="1.0" encoding="utf-8"?>
<p:tagLst xmlns:p="http://schemas.openxmlformats.org/presentationml/2006/main">
  <p:tag name="KSO_WM_DIAGRAM_VIRTUALLY_FRAME" val="{&quot;height&quot;:678.75,&quot;left&quot;:104.7,&quot;top&quot;:142.95,&quot;width&quot;:1210.2615748031496}"/>
</p:tagLst>
</file>

<file path=ppt/theme/theme1.xml><?xml version="1.0" encoding="utf-8"?>
<a:theme xmlns:a="http://schemas.openxmlformats.org/drawingml/2006/main" name="1_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4959</Words>
  <Application>WPS Presentation</Application>
  <PresentationFormat>On-screen Show (4:3)</PresentationFormat>
  <Paragraphs>219</Paragraphs>
  <Slides>15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SimSun</vt:lpstr>
      <vt:lpstr>Wingdings</vt:lpstr>
      <vt:lpstr>Raleway Bold</vt:lpstr>
      <vt:lpstr>Canva Sans Bold</vt:lpstr>
      <vt:lpstr>Canva Sans</vt:lpstr>
      <vt:lpstr>Arial</vt:lpstr>
      <vt:lpstr>Raleway</vt:lpstr>
      <vt:lpstr>Prata</vt:lpstr>
      <vt:lpstr>Microsoft YaHei</vt:lpstr>
      <vt:lpstr>Arial Unicode MS</vt:lpstr>
      <vt:lpstr>Calibri</vt:lpstr>
      <vt:lpstr>1_Default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Monochromatic Simple The Minimalist Presentation Template</dc:title>
  <dc:creator/>
  <cp:lastModifiedBy>Christian james Dejapon</cp:lastModifiedBy>
  <cp:revision>25</cp:revision>
  <dcterms:created xsi:type="dcterms:W3CDTF">2006-08-16T00:00:00Z</dcterms:created>
  <dcterms:modified xsi:type="dcterms:W3CDTF">2026-02-09T16:01:28Z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B8C760251A0D41B9BE8AE082CAE17A03_12</vt:lpwstr>
  </property>
  <property fmtid="{D5CDD505-2E9C-101B-9397-08002B2CF9AE}" pid="3" name="KSOProductBuildVer">
    <vt:lpwstr>1033-12.2.0.23196</vt:lpwstr>
  </property>
</Properties>
</file>